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72" r:id="rId6"/>
    <p:sldMasterId id="2147483694" r:id="rId7"/>
    <p:sldMasterId id="2147483711" r:id="rId8"/>
    <p:sldMasterId id="2147483733" r:id="rId9"/>
    <p:sldMasterId id="2147483747" r:id="rId10"/>
  </p:sldMasterIdLst>
  <p:notesMasterIdLst>
    <p:notesMasterId r:id="rId11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</p:sldIdLst>
  <p:sldSz cy="5143500" cx="9144000"/>
  <p:notesSz cx="6858000" cy="9144000"/>
  <p:embeddedFontLst>
    <p:embeddedFont>
      <p:font typeface="Play"/>
      <p:regular r:id="rId35"/>
      <p:bold r:id="rId36"/>
    </p:embeddedFont>
    <p:embeddedFont>
      <p:font typeface="Poppins"/>
      <p:regular r:id="rId37"/>
      <p:bold r:id="rId38"/>
      <p:italic r:id="rId39"/>
      <p:boldItalic r:id="rId40"/>
    </p:embeddedFont>
    <p:embeddedFont>
      <p:font typeface="Poppins SemiBold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38">
          <p15:clr>
            <a:srgbClr val="9AA0A6"/>
          </p15:clr>
        </p15:guide>
        <p15:guide id="2" pos="5760">
          <p15:clr>
            <a:srgbClr val="9AA0A6"/>
          </p15:clr>
        </p15:guide>
        <p15:guide id="3">
          <p15:clr>
            <a:srgbClr val="9AA0A6"/>
          </p15:clr>
        </p15:guide>
        <p15:guide id="4" pos="5420">
          <p15:clr>
            <a:srgbClr val="9AA0A6"/>
          </p15:clr>
        </p15:guide>
        <p15:guide id="5" orient="horz" pos="3240">
          <p15:clr>
            <a:srgbClr val="9AA0A6"/>
          </p15:clr>
        </p15:guide>
        <p15:guide id="6" orient="horz">
          <p15:clr>
            <a:srgbClr val="9AA0A6"/>
          </p15:clr>
        </p15:guide>
        <p15:guide id="7" orient="horz" pos="338">
          <p15:clr>
            <a:srgbClr val="9AA0A6"/>
          </p15:clr>
        </p15:guide>
        <p15:guide id="8" orient="horz" pos="2902">
          <p15:clr>
            <a:srgbClr val="9AA0A6"/>
          </p15:clr>
        </p15:guide>
        <p15:guide id="9" orient="horz" pos="1708">
          <p15:clr>
            <a:srgbClr val="9AA0A6"/>
          </p15:clr>
        </p15:guide>
        <p15:guide id="10" pos="2880">
          <p15:clr>
            <a:srgbClr val="9AA0A6"/>
          </p15:clr>
        </p15:guide>
        <p15:guide id="11" orient="horz" pos="1383">
          <p15:clr>
            <a:srgbClr val="9AA0A6"/>
          </p15:clr>
        </p15:guide>
        <p15:guide id="12" orient="horz" pos="2981">
          <p15:clr>
            <a:srgbClr val="9AA0A6"/>
          </p15:clr>
        </p15:guide>
        <p15:guide id="13" orient="horz" pos="2867">
          <p15:clr>
            <a:srgbClr val="9AA0A6"/>
          </p15:clr>
        </p15:guide>
        <p15:guide id="14" orient="horz" pos="1094">
          <p15:clr>
            <a:srgbClr val="9AA0A6"/>
          </p15:clr>
        </p15:guide>
        <p15:guide id="15" orient="horz" pos="901">
          <p15:clr>
            <a:srgbClr val="9AA0A6"/>
          </p15:clr>
        </p15:guide>
        <p15:guide id="16" orient="horz" pos="2711">
          <p15:clr>
            <a:srgbClr val="9AA0A6"/>
          </p15:clr>
        </p15:guide>
        <p15:guide id="17" pos="5057">
          <p15:clr>
            <a:srgbClr val="9AA0A6"/>
          </p15:clr>
        </p15:guide>
        <p15:guide id="18" pos="706">
          <p15:clr>
            <a:srgbClr val="9AA0A6"/>
          </p15:clr>
        </p15:guide>
        <p15:guide id="19" orient="horz" pos="1660">
          <p15:clr>
            <a:srgbClr val="9AA0A6"/>
          </p15:clr>
        </p15:guide>
        <p15:guide id="20" pos="3251">
          <p15:clr>
            <a:srgbClr val="747775"/>
          </p15:clr>
        </p15:guide>
        <p15:guide id="21" orient="horz" pos="1246">
          <p15:clr>
            <a:srgbClr val="747775"/>
          </p15:clr>
        </p15:guide>
      </p15:sldGuideLst>
    </p:ext>
    <p:ext uri="GoogleSlidesCustomDataVersion2">
      <go:slidesCustomData xmlns:go="http://customooxmlschemas.google.com/" r:id="rId45" roundtripDataSignature="AMtx7mg10bXRCoAMkufGKITmDytDkyvr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1BB26F6-610B-4FC4-9972-DB1B922C5485}">
  <a:tblStyle styleId="{51BB26F6-610B-4FC4-9972-DB1B922C548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8"/>
        <p:guide pos="5760"/>
        <p:guide/>
        <p:guide pos="5420"/>
        <p:guide pos="3240" orient="horz"/>
        <p:guide orient="horz"/>
        <p:guide pos="338" orient="horz"/>
        <p:guide pos="2902" orient="horz"/>
        <p:guide pos="1708" orient="horz"/>
        <p:guide pos="2880"/>
        <p:guide pos="1383" orient="horz"/>
        <p:guide pos="2981" orient="horz"/>
        <p:guide pos="2867" orient="horz"/>
        <p:guide pos="1094" orient="horz"/>
        <p:guide pos="901" orient="horz"/>
        <p:guide pos="2711" orient="horz"/>
        <p:guide pos="5057"/>
        <p:guide pos="706"/>
        <p:guide pos="1660" orient="horz"/>
        <p:guide pos="3251"/>
        <p:guide pos="124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boldItalic.fntdata"/><Relationship Id="rId20" Type="http://schemas.openxmlformats.org/officeDocument/2006/relationships/slide" Target="slides/slide9.xml"/><Relationship Id="rId42" Type="http://schemas.openxmlformats.org/officeDocument/2006/relationships/font" Target="fonts/PoppinsSemiBold-bold.fntdata"/><Relationship Id="rId41" Type="http://schemas.openxmlformats.org/officeDocument/2006/relationships/font" Target="fonts/PoppinsSemiBold-regular.fntdata"/><Relationship Id="rId22" Type="http://schemas.openxmlformats.org/officeDocument/2006/relationships/slide" Target="slides/slide11.xml"/><Relationship Id="rId44" Type="http://schemas.openxmlformats.org/officeDocument/2006/relationships/font" Target="fonts/PoppinsSemiBold-boldItalic.fntdata"/><Relationship Id="rId21" Type="http://schemas.openxmlformats.org/officeDocument/2006/relationships/slide" Target="slides/slide10.xml"/><Relationship Id="rId43" Type="http://schemas.openxmlformats.org/officeDocument/2006/relationships/font" Target="fonts/PoppinsSemiBold-italic.fntdata"/><Relationship Id="rId24" Type="http://schemas.openxmlformats.org/officeDocument/2006/relationships/slide" Target="slides/slide13.xml"/><Relationship Id="rId23" Type="http://schemas.openxmlformats.org/officeDocument/2006/relationships/slide" Target="slides/slide12.xml"/><Relationship Id="rId45" Type="http://customschemas.google.com/relationships/presentationmetadata" Target="meta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26" Type="http://schemas.openxmlformats.org/officeDocument/2006/relationships/slide" Target="slides/slide15.xml"/><Relationship Id="rId25" Type="http://schemas.openxmlformats.org/officeDocument/2006/relationships/slide" Target="slides/slide14.xml"/><Relationship Id="rId28" Type="http://schemas.openxmlformats.org/officeDocument/2006/relationships/slide" Target="slides/slide17.xml"/><Relationship Id="rId27" Type="http://schemas.openxmlformats.org/officeDocument/2006/relationships/slide" Target="slides/slide16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18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slide" Target="slides/slide20.xml"/><Relationship Id="rId30" Type="http://schemas.openxmlformats.org/officeDocument/2006/relationships/slide" Target="slides/slide19.xml"/><Relationship Id="rId11" Type="http://schemas.openxmlformats.org/officeDocument/2006/relationships/notesMaster" Target="notesMasters/notesMaster1.xml"/><Relationship Id="rId33" Type="http://schemas.openxmlformats.org/officeDocument/2006/relationships/slide" Target="slides/slide22.xml"/><Relationship Id="rId10" Type="http://schemas.openxmlformats.org/officeDocument/2006/relationships/slideMaster" Target="slideMasters/slideMaster6.xml"/><Relationship Id="rId32" Type="http://schemas.openxmlformats.org/officeDocument/2006/relationships/slide" Target="slides/slide21.xml"/><Relationship Id="rId13" Type="http://schemas.openxmlformats.org/officeDocument/2006/relationships/slide" Target="slides/slide2.xml"/><Relationship Id="rId35" Type="http://schemas.openxmlformats.org/officeDocument/2006/relationships/font" Target="fonts/Play-regular.fntdata"/><Relationship Id="rId12" Type="http://schemas.openxmlformats.org/officeDocument/2006/relationships/slide" Target="slides/slide1.xml"/><Relationship Id="rId34" Type="http://schemas.openxmlformats.org/officeDocument/2006/relationships/slide" Target="slides/slide23.xml"/><Relationship Id="rId15" Type="http://schemas.openxmlformats.org/officeDocument/2006/relationships/slide" Target="slides/slide4.xml"/><Relationship Id="rId37" Type="http://schemas.openxmlformats.org/officeDocument/2006/relationships/font" Target="fonts/Poppins-regular.fntdata"/><Relationship Id="rId14" Type="http://schemas.openxmlformats.org/officeDocument/2006/relationships/slide" Target="slides/slide3.xml"/><Relationship Id="rId36" Type="http://schemas.openxmlformats.org/officeDocument/2006/relationships/font" Target="fonts/Play-bold.fntdata"/><Relationship Id="rId17" Type="http://schemas.openxmlformats.org/officeDocument/2006/relationships/slide" Target="slides/slide6.xml"/><Relationship Id="rId39" Type="http://schemas.openxmlformats.org/officeDocument/2006/relationships/font" Target="fonts/Poppins-italic.fntdata"/><Relationship Id="rId16" Type="http://schemas.openxmlformats.org/officeDocument/2006/relationships/slide" Target="slides/slide5.xml"/><Relationship Id="rId38" Type="http://schemas.openxmlformats.org/officeDocument/2006/relationships/font" Target="fonts/Poppins-bold.fntdata"/><Relationship Id="rId19" Type="http://schemas.openxmlformats.org/officeDocument/2006/relationships/slide" Target="slides/slide8.xml"/><Relationship Id="rId18" Type="http://schemas.openxmlformats.org/officeDocument/2006/relationships/slide" Target="slides/slide7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4" name="Google Shape;6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5" name="Google Shape;6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4" name="Google Shape;6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3" name="Google Shape;6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pl-PL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Sekcja spersonalizowanej rekomendacji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pl-PL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Kalkulacja finansowa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pl-PL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Szczegółowa oferta – jaka jest rekomendacja dla tego konkretnego klienta 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9" name="Google Shape;6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7" name="Google Shape;67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5" name="Google Shape;6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1" name="Google Shape;69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9" name="Google Shape;71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l-PL"/>
              <a:t>//jak działamy – 3 etapowy proces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l-PL"/>
              <a:t>Wychodzimy od,,,, jako tytuł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4" name="Google Shape;73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l-PL"/>
              <a:t>Na stronie lektorów – poprawić, żeby dlaczego warto z nami współpracować było o sposobie rekrutacji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l-PL"/>
              <a:t>Odp na: Czy mają doświadczenie w naszej branży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1" name="Google Shape;74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0" name="Google Shape;75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8" name="Google Shape;75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7" name="Google Shape;76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5" name="Google Shape;77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l-PL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Zdjęcie/kolaż zdjęć naszych w ofercie b2c i </a:t>
            </a:r>
            <a:r>
              <a:rPr b="0" i="0" lang="pl-PL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 do opisu Lektorów – link poprawić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3" name="Google Shape;78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l-PL"/>
              <a:t>Zdobywacie klientów dzięki lepszemu angielskiemu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0" name="Google Shape;80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8" name="Google Shape;81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l-PL"/>
              <a:t>repeat:testimonials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8" name="Google Shape;82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l-PL">
                <a:latin typeface="Calibri"/>
                <a:ea typeface="Calibri"/>
                <a:cs typeface="Calibri"/>
                <a:sym typeface="Calibri"/>
              </a:rPr>
              <a:t>Dodatkowy slajd z logo do ofert innych niż IT</a:t>
            </a:r>
            <a:r>
              <a:rPr b="0" i="0" lang="pl-PL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8" name="Google Shape;83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hyperlink" Target="https://coaction.pl/" TargetMode="External"/><Relationship Id="rId4" Type="http://schemas.openxmlformats.org/officeDocument/2006/relationships/image" Target="../media/image4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hyperlink" Target="https://coaction.pl/" TargetMode="External"/><Relationship Id="rId4" Type="http://schemas.openxmlformats.org/officeDocument/2006/relationships/image" Target="../media/image4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showMasterSp="0" type="tx">
  <p:cSld name="TITLE_AND_BODY">
    <p:bg>
      <p:bgPr>
        <a:solidFill>
          <a:srgbClr val="14151F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" name="Google Shape;1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sp>
        <p:nvSpPr>
          <p:cNvPr id="14" name="Google Shape;14;p28"/>
          <p:cNvSpPr txBox="1"/>
          <p:nvPr/>
        </p:nvSpPr>
        <p:spPr>
          <a:xfrm>
            <a:off x="6608834" y="384802"/>
            <a:ext cx="2535166" cy="234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1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Speak English like a Pro!</a:t>
            </a:r>
            <a:endParaRPr/>
          </a:p>
        </p:txBody>
      </p:sp>
      <p:pic>
        <p:nvPicPr>
          <p:cNvPr id="15" name="Google Shape;15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38029" y="391627"/>
            <a:ext cx="1854000" cy="402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18" name="Google Shape;18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mny z obrazem">
  <p:cSld name="Ciemny z obrazem">
    <p:bg>
      <p:bgPr>
        <a:solidFill>
          <a:srgbClr val="14151F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0910" y="4460360"/>
            <a:ext cx="1854000" cy="402224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3"/>
          <p:cNvSpPr txBox="1"/>
          <p:nvPr>
            <p:ph idx="1" type="body"/>
          </p:nvPr>
        </p:nvSpPr>
        <p:spPr>
          <a:xfrm>
            <a:off x="609600" y="1165224"/>
            <a:ext cx="5059680" cy="30714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Noto Sans Symbols"/>
              <a:buNone/>
              <a:defRPr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Char char="–"/>
              <a:defRPr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Char char="–"/>
              <a:defRPr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oto Sans Symbols"/>
              <a:buChar char="▪"/>
              <a:defRPr sz="1400"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oto Sans Symbols"/>
              <a:buChar char="▪"/>
              <a:defRPr sz="1400">
                <a:latin typeface="Play"/>
                <a:ea typeface="Play"/>
                <a:cs typeface="Play"/>
                <a:sym typeface="Play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33"/>
          <p:cNvSpPr txBox="1"/>
          <p:nvPr>
            <p:ph idx="2" type="body"/>
          </p:nvPr>
        </p:nvSpPr>
        <p:spPr>
          <a:xfrm>
            <a:off x="579420" y="312660"/>
            <a:ext cx="8145480" cy="528006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000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5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33"/>
          <p:cNvSpPr/>
          <p:nvPr>
            <p:ph idx="3" type="pic"/>
          </p:nvPr>
        </p:nvSpPr>
        <p:spPr>
          <a:xfrm>
            <a:off x="5788550" y="1355725"/>
            <a:ext cx="2941982" cy="2881313"/>
          </a:xfrm>
          <a:prstGeom prst="rect">
            <a:avLst/>
          </a:prstGeom>
          <a:noFill/>
          <a:ln>
            <a:noFill/>
          </a:ln>
        </p:spPr>
      </p:sp>
      <p:sp>
        <p:nvSpPr>
          <p:cNvPr id="24" name="Google Shape;24;p33"/>
          <p:cNvSpPr txBox="1"/>
          <p:nvPr/>
        </p:nvSpPr>
        <p:spPr>
          <a:xfrm>
            <a:off x="0" y="4744528"/>
            <a:ext cx="586595" cy="398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l-PL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owy ciemny">
  <p:cSld name="Standardowy ciemny">
    <p:bg>
      <p:bgPr>
        <a:solidFill>
          <a:srgbClr val="14151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6"/>
          <p:cNvSpPr txBox="1"/>
          <p:nvPr>
            <p:ph idx="1" type="body"/>
          </p:nvPr>
        </p:nvSpPr>
        <p:spPr>
          <a:xfrm>
            <a:off x="609600" y="1165224"/>
            <a:ext cx="8145780" cy="30714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Noto Sans Symbols"/>
              <a:buNone/>
              <a:defRPr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Char char="–"/>
              <a:defRPr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Char char="–"/>
              <a:defRPr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oto Sans Symbols"/>
              <a:buChar char="▪"/>
              <a:defRPr sz="1400"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oto Sans Symbols"/>
              <a:buChar char="▪"/>
              <a:defRPr sz="1400">
                <a:latin typeface="Play"/>
                <a:ea typeface="Play"/>
                <a:cs typeface="Play"/>
                <a:sym typeface="Play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36"/>
          <p:cNvSpPr txBox="1"/>
          <p:nvPr>
            <p:ph idx="2" type="body"/>
          </p:nvPr>
        </p:nvSpPr>
        <p:spPr>
          <a:xfrm>
            <a:off x="579420" y="312660"/>
            <a:ext cx="8145480" cy="528006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000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5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28" name="Google Shape;2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0910" y="4460360"/>
            <a:ext cx="1854000" cy="402224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6"/>
          <p:cNvSpPr txBox="1"/>
          <p:nvPr/>
        </p:nvSpPr>
        <p:spPr>
          <a:xfrm>
            <a:off x="0" y="4744528"/>
            <a:ext cx="586595" cy="398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l-PL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ykły jasny">
  <p:cSld name="Zwykły jasny"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7"/>
          <p:cNvSpPr txBox="1"/>
          <p:nvPr>
            <p:ph idx="1" type="body"/>
          </p:nvPr>
        </p:nvSpPr>
        <p:spPr>
          <a:xfrm>
            <a:off x="609600" y="1165224"/>
            <a:ext cx="8145780" cy="30714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Noto Sans Symbols"/>
              <a:buNone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Play"/>
              <a:buChar char="–"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Play"/>
              <a:buChar char="–"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oto Sans Symbols"/>
              <a:buChar char="▪"/>
              <a:defRPr sz="1400"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oto Sans Symbols"/>
              <a:buChar char="▪"/>
              <a:defRPr sz="1400">
                <a:latin typeface="Play"/>
                <a:ea typeface="Play"/>
                <a:cs typeface="Play"/>
                <a:sym typeface="Play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" name="Google Shape;32;p37"/>
          <p:cNvSpPr txBox="1"/>
          <p:nvPr>
            <p:ph idx="2" type="body"/>
          </p:nvPr>
        </p:nvSpPr>
        <p:spPr>
          <a:xfrm>
            <a:off x="579420" y="312660"/>
            <a:ext cx="8145480" cy="624187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000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5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37"/>
          <p:cNvSpPr txBox="1"/>
          <p:nvPr/>
        </p:nvSpPr>
        <p:spPr>
          <a:xfrm>
            <a:off x="0" y="4744528"/>
            <a:ext cx="586595" cy="398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l-PL" sz="12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asny z obrazkiem">
  <p:cSld name="Jasny z obrazkiem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2"/>
          <p:cNvSpPr txBox="1"/>
          <p:nvPr>
            <p:ph idx="1" type="body"/>
          </p:nvPr>
        </p:nvSpPr>
        <p:spPr>
          <a:xfrm>
            <a:off x="609599" y="1165224"/>
            <a:ext cx="4950759" cy="30714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Noto Sans Symbols"/>
              <a:buNone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Play"/>
              <a:buChar char="–"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Play"/>
              <a:buChar char="–"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oto Sans Symbols"/>
              <a:buChar char="▪"/>
              <a:defRPr sz="1400"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oto Sans Symbols"/>
              <a:buChar char="▪"/>
              <a:defRPr sz="1400">
                <a:latin typeface="Play"/>
                <a:ea typeface="Play"/>
                <a:cs typeface="Play"/>
                <a:sym typeface="Play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42"/>
          <p:cNvSpPr txBox="1"/>
          <p:nvPr>
            <p:ph idx="2" type="body"/>
          </p:nvPr>
        </p:nvSpPr>
        <p:spPr>
          <a:xfrm>
            <a:off x="579420" y="312660"/>
            <a:ext cx="8145480" cy="528006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000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5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2"/>
          <p:cNvSpPr/>
          <p:nvPr>
            <p:ph idx="3" type="pic"/>
          </p:nvPr>
        </p:nvSpPr>
        <p:spPr>
          <a:xfrm>
            <a:off x="5883088" y="1355725"/>
            <a:ext cx="2964050" cy="2881313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42"/>
          <p:cNvSpPr txBox="1"/>
          <p:nvPr/>
        </p:nvSpPr>
        <p:spPr>
          <a:xfrm>
            <a:off x="0" y="4744528"/>
            <a:ext cx="586595" cy="398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l-PL" sz="12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1" name="Google Shape;41;p6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2" name="Google Shape;42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5" name="Google Shape;45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46" name="Google Shape;46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6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6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" name="Google Shape;51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52" name="Google Shape;52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3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" name="Google Shape;55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56" name="Google Shape;56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3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1_One column 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9" name="Google Shape;59;p7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0" name="Google Shape;60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61" name="Google Shape;61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1_Main poin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4" name="Google Shape;64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65" name="Google Shape;65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3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1_Section title and description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7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9" name="Google Shape;69;p7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0" name="Google Shape;70;p7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72" name="Google Shape;72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3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1_Caption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" name="Google Shape;75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76" name="Google Shape;76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3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1_Big numb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4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79" name="Google Shape;79;p7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0" name="Google Shape;80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81" name="Google Shape;81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3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7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" name="Google Shape;85;p7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87" name="Google Shape;87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3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91" name="Google Shape;91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4" name="Google Shape;94;p7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96" name="Google Shape;96;p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9" name="Google Shape;99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100" name="Google Shape;100;p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4" name="Google Shape;104;p7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5" name="Google Shape;105;p7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6" name="Google Shape;106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107" name="Google Shape;107;p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0" name="Google Shape;110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111" name="Google Shape;111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1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14" name="Google Shape;114;p8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5" name="Google Shape;115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116" name="Google Shape;116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119" name="Google Shape;119;p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owy ciemny">
  <p:cSld name="Standardowy ciemny">
    <p:bg>
      <p:bgPr>
        <a:solidFill>
          <a:srgbClr val="14151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1"/>
          <p:cNvSpPr txBox="1"/>
          <p:nvPr>
            <p:ph idx="1" type="body"/>
          </p:nvPr>
        </p:nvSpPr>
        <p:spPr>
          <a:xfrm>
            <a:off x="609600" y="1165224"/>
            <a:ext cx="8145780" cy="30714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Noto Sans Symbols"/>
              <a:buNone/>
              <a:defRPr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Char char="–"/>
              <a:defRPr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Char char="–"/>
              <a:defRPr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oto Sans Symbols"/>
              <a:buChar char="▪"/>
              <a:defRPr sz="1400"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oto Sans Symbols"/>
              <a:buChar char="▪"/>
              <a:defRPr sz="1400">
                <a:latin typeface="Play"/>
                <a:ea typeface="Play"/>
                <a:cs typeface="Play"/>
                <a:sym typeface="Play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7" name="Google Shape;127;p31"/>
          <p:cNvSpPr txBox="1"/>
          <p:nvPr>
            <p:ph idx="2" type="body"/>
          </p:nvPr>
        </p:nvSpPr>
        <p:spPr>
          <a:xfrm>
            <a:off x="579420" y="312660"/>
            <a:ext cx="8145480" cy="528006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000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5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128" name="Google Shape;1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0910" y="4460360"/>
            <a:ext cx="1854000" cy="40222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31"/>
          <p:cNvSpPr txBox="1"/>
          <p:nvPr/>
        </p:nvSpPr>
        <p:spPr>
          <a:xfrm>
            <a:off x="0" y="4744528"/>
            <a:ext cx="586595" cy="398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l-PL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mny z obrazem">
  <p:cSld name="Ciemny z obrazem">
    <p:bg>
      <p:bgPr>
        <a:solidFill>
          <a:srgbClr val="14151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0910" y="4460360"/>
            <a:ext cx="1854000" cy="40222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2"/>
          <p:cNvSpPr txBox="1"/>
          <p:nvPr>
            <p:ph idx="1" type="body"/>
          </p:nvPr>
        </p:nvSpPr>
        <p:spPr>
          <a:xfrm>
            <a:off x="609600" y="1165224"/>
            <a:ext cx="5059680" cy="30714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Noto Sans Symbols"/>
              <a:buNone/>
              <a:defRPr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Char char="–"/>
              <a:defRPr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"/>
              <a:buChar char="–"/>
              <a:defRPr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oto Sans Symbols"/>
              <a:buChar char="▪"/>
              <a:defRPr sz="1400"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oto Sans Symbols"/>
              <a:buChar char="▪"/>
              <a:defRPr sz="1400">
                <a:latin typeface="Play"/>
                <a:ea typeface="Play"/>
                <a:cs typeface="Play"/>
                <a:sym typeface="Play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3" name="Google Shape;133;p32"/>
          <p:cNvSpPr txBox="1"/>
          <p:nvPr>
            <p:ph idx="2" type="body"/>
          </p:nvPr>
        </p:nvSpPr>
        <p:spPr>
          <a:xfrm>
            <a:off x="579420" y="312660"/>
            <a:ext cx="8145480" cy="528006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000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5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4" name="Google Shape;134;p32"/>
          <p:cNvSpPr/>
          <p:nvPr>
            <p:ph idx="3" type="pic"/>
          </p:nvPr>
        </p:nvSpPr>
        <p:spPr>
          <a:xfrm>
            <a:off x="5788550" y="1355725"/>
            <a:ext cx="2941982" cy="288131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7" name="Google Shape;137;p9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8" name="Google Shape;138;p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1" name="Google Shape;141;p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showMasterSp="0" type="tx">
  <p:cSld name="TITLE_AND_BODY">
    <p:bg>
      <p:bgPr>
        <a:solidFill>
          <a:srgbClr val="14151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4" name="Google Shape;144;p9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Char char="▪"/>
              <a:defRPr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5" name="Google Shape;145;p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sp>
        <p:nvSpPr>
          <p:cNvPr id="146" name="Google Shape;146;p96"/>
          <p:cNvSpPr txBox="1"/>
          <p:nvPr/>
        </p:nvSpPr>
        <p:spPr>
          <a:xfrm>
            <a:off x="6608834" y="384802"/>
            <a:ext cx="2535166" cy="234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1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Speak English like a Pro!</a:t>
            </a:r>
            <a:endParaRPr/>
          </a:p>
        </p:txBody>
      </p:sp>
      <p:pic>
        <p:nvPicPr>
          <p:cNvPr id="147" name="Google Shape;147;p9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38029" y="391627"/>
            <a:ext cx="1854000" cy="402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showMasterSp="0">
  <p:cSld name="1_Title and body">
    <p:bg>
      <p:bgPr>
        <a:solidFill>
          <a:srgbClr val="14151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0" name="Google Shape;150;p9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Char char="▪"/>
              <a:defRPr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1" name="Google Shape;151;p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152" name="Google Shape;152;p9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38029" y="391627"/>
            <a:ext cx="1854000" cy="40222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97"/>
          <p:cNvSpPr txBox="1"/>
          <p:nvPr/>
        </p:nvSpPr>
        <p:spPr>
          <a:xfrm>
            <a:off x="6655287" y="228433"/>
            <a:ext cx="2634099" cy="83096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1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Win global clients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1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with powerful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1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communication skills</a:t>
            </a:r>
            <a:r>
              <a:rPr b="0" i="0" lang="pl-PL" sz="1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" name="Google Shape;156;p9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7" name="Google Shape;157;p9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8" name="Google Shape;158;p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1" name="Google Shape;161;p9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4" name="Google Shape;164;p10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5" name="Google Shape;165;p1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8" name="Google Shape;168;p10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0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2" name="Google Shape;172;p10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3" name="Google Shape;173;p10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4" name="Google Shape;174;p10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175" name="Google Shape;175;p10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4574"/>
            <a:ext cx="1854000" cy="397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8" name="Google Shape;178;p10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179" name="Google Shape;179;p10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3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4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82" name="Google Shape;182;p10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3" name="Google Shape;183;p10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184" name="Google Shape;184;p10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3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1_Title and two columns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7" name="Google Shape;187;p10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8" name="Google Shape;188;p10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9" name="Google Shape;189;p10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190" name="Google Shape;190;p1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3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_Title only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3" name="Google Shape;193;p10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194" name="Google Shape;194;p10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1_One column 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7" name="Google Shape;197;p10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8" name="Google Shape;198;p10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199" name="Google Shape;199;p10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1_Main point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02" name="Google Shape;202;p10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203" name="Google Shape;203;p10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1_Section title and description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0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07" name="Google Shape;207;p10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8" name="Google Shape;208;p10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9" name="Google Shape;209;p10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210" name="Google Shape;210;p1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1_Caption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3" name="Google Shape;213;p1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214" name="Google Shape;214;p1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1_Big number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1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217" name="Google Shape;217;p1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8" name="Google Shape;218;p1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219" name="Google Shape;219;p1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222" name="Google Shape;222;p1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ajd tytułowy" type="title">
  <p:cSld name="TITLE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151F"/>
              </a:buClr>
              <a:buSzPts val="4500"/>
              <a:buFont typeface="Play"/>
              <a:buNone/>
              <a:defRPr sz="45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5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33" name="Google Shape;233;p3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3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3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asny jedna kolumna">
  <p:cSld name="Jasny jedna kolumna"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3"/>
          <p:cNvSpPr txBox="1"/>
          <p:nvPr>
            <p:ph idx="1" type="body"/>
          </p:nvPr>
        </p:nvSpPr>
        <p:spPr>
          <a:xfrm>
            <a:off x="609600" y="1165224"/>
            <a:ext cx="8145780" cy="3071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Noto Sans Symbols"/>
              <a:buNone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Play"/>
              <a:buChar char="–"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Play"/>
              <a:buChar char="–"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Noto Sans Symbols"/>
              <a:buChar char="▪"/>
              <a:defRPr sz="1400"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Noto Sans Symbols"/>
              <a:buChar char="▪"/>
              <a:defRPr sz="1400"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8" name="Google Shape;238;p113"/>
          <p:cNvSpPr txBox="1"/>
          <p:nvPr>
            <p:ph idx="2" type="body"/>
          </p:nvPr>
        </p:nvSpPr>
        <p:spPr>
          <a:xfrm>
            <a:off x="579420" y="312660"/>
            <a:ext cx="8145480" cy="528006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00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2500"/>
              <a:buNone/>
              <a:defRPr b="1" sz="25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2385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–"/>
              <a:defRPr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4325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Char char="–"/>
              <a:defRPr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1432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Char char="–"/>
              <a:defRPr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asny z obrazkiem">
  <p:cSld name="Jasny z obrazkiem">
    <p:bg>
      <p:bgPr>
        <a:solidFill>
          <a:schemeClr val="l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4"/>
          <p:cNvSpPr txBox="1"/>
          <p:nvPr>
            <p:ph idx="1" type="body"/>
          </p:nvPr>
        </p:nvSpPr>
        <p:spPr>
          <a:xfrm>
            <a:off x="609599" y="1165224"/>
            <a:ext cx="4950759" cy="3071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Noto Sans Symbols"/>
              <a:buNone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Play"/>
              <a:buChar char="–"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Play"/>
              <a:buChar char="–"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Noto Sans Symbols"/>
              <a:buChar char="▪"/>
              <a:defRPr sz="1400"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Noto Sans Symbols"/>
              <a:buChar char="▪"/>
              <a:defRPr sz="1400"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1" name="Google Shape;241;p114"/>
          <p:cNvSpPr txBox="1"/>
          <p:nvPr>
            <p:ph idx="2" type="body"/>
          </p:nvPr>
        </p:nvSpPr>
        <p:spPr>
          <a:xfrm>
            <a:off x="579420" y="312660"/>
            <a:ext cx="8145480" cy="528006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00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2500"/>
              <a:buNone/>
              <a:defRPr b="1" sz="25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2385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–"/>
              <a:defRPr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4325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Char char="–"/>
              <a:defRPr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1432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Char char="–"/>
              <a:defRPr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2" name="Google Shape;242;p114"/>
          <p:cNvSpPr/>
          <p:nvPr>
            <p:ph idx="3" type="pic"/>
          </p:nvPr>
        </p:nvSpPr>
        <p:spPr>
          <a:xfrm>
            <a:off x="5883088" y="1355725"/>
            <a:ext cx="2964050" cy="288131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Jasny jedna kolumna">
  <p:cSld name="1_Jasny jedna kolumna">
    <p:bg>
      <p:bgPr>
        <a:solidFill>
          <a:schemeClr val="lt1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5"/>
          <p:cNvSpPr txBox="1"/>
          <p:nvPr>
            <p:ph idx="1" type="body"/>
          </p:nvPr>
        </p:nvSpPr>
        <p:spPr>
          <a:xfrm>
            <a:off x="609600" y="1165224"/>
            <a:ext cx="8145780" cy="3071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Noto Sans Symbols"/>
              <a:buNone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Play"/>
              <a:buChar char="–"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Play"/>
              <a:buChar char="–"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Noto Sans Symbols"/>
              <a:buChar char="▪"/>
              <a:defRPr sz="1400"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Noto Sans Symbols"/>
              <a:buChar char="▪"/>
              <a:defRPr sz="1400"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5" name="Google Shape;245;p115"/>
          <p:cNvSpPr txBox="1"/>
          <p:nvPr>
            <p:ph idx="2" type="body"/>
          </p:nvPr>
        </p:nvSpPr>
        <p:spPr>
          <a:xfrm>
            <a:off x="579420" y="312660"/>
            <a:ext cx="8145480" cy="528006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00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2500"/>
              <a:buNone/>
              <a:defRPr b="1" sz="25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2385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–"/>
              <a:defRPr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4325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Char char="–"/>
              <a:defRPr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1432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Char char="–"/>
              <a:defRPr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6" name="Google Shape;246;p115"/>
          <p:cNvSpPr txBox="1"/>
          <p:nvPr/>
        </p:nvSpPr>
        <p:spPr>
          <a:xfrm>
            <a:off x="0" y="4744528"/>
            <a:ext cx="586595" cy="398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l-PL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Jasny z obrazkiem">
  <p:cSld name="1_Jasny z obrazkiem">
    <p:bg>
      <p:bgPr>
        <a:solidFill>
          <a:schemeClr val="lt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6"/>
          <p:cNvSpPr txBox="1"/>
          <p:nvPr>
            <p:ph idx="1" type="body"/>
          </p:nvPr>
        </p:nvSpPr>
        <p:spPr>
          <a:xfrm>
            <a:off x="609599" y="1165224"/>
            <a:ext cx="4950759" cy="3071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Noto Sans Symbols"/>
              <a:buNone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Play"/>
              <a:buChar char="–"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Play"/>
              <a:buChar char="–"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Noto Sans Symbols"/>
              <a:buChar char="▪"/>
              <a:defRPr sz="1400"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Noto Sans Symbols"/>
              <a:buChar char="▪"/>
              <a:defRPr sz="1400"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9" name="Google Shape;249;p116"/>
          <p:cNvSpPr txBox="1"/>
          <p:nvPr>
            <p:ph idx="2" type="body"/>
          </p:nvPr>
        </p:nvSpPr>
        <p:spPr>
          <a:xfrm>
            <a:off x="579420" y="312660"/>
            <a:ext cx="8145480" cy="528006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00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2500"/>
              <a:buNone/>
              <a:defRPr b="1" sz="25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2385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–"/>
              <a:defRPr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4325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Char char="–"/>
              <a:defRPr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1432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Char char="–"/>
              <a:defRPr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0" name="Google Shape;250;p116"/>
          <p:cNvSpPr/>
          <p:nvPr>
            <p:ph idx="3" type="pic"/>
          </p:nvPr>
        </p:nvSpPr>
        <p:spPr>
          <a:xfrm>
            <a:off x="5883088" y="1355725"/>
            <a:ext cx="2964050" cy="2881313"/>
          </a:xfrm>
          <a:prstGeom prst="rect">
            <a:avLst/>
          </a:prstGeom>
          <a:noFill/>
          <a:ln>
            <a:noFill/>
          </a:ln>
        </p:spPr>
      </p:sp>
      <p:sp>
        <p:nvSpPr>
          <p:cNvPr id="251" name="Google Shape;251;p116"/>
          <p:cNvSpPr txBox="1"/>
          <p:nvPr/>
        </p:nvSpPr>
        <p:spPr>
          <a:xfrm>
            <a:off x="0" y="4744528"/>
            <a:ext cx="586595" cy="398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l-PL" sz="1200" u="none" cap="none" strike="noStrike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rPr>
              <a:t>‹#›</a:t>
            </a:fld>
            <a:endParaRPr b="0" i="0" sz="1200" u="none" cap="none" strike="noStrike">
              <a:solidFill>
                <a:srgbClr val="14151F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lajd tytułowy">
  <p:cSld name="1_Slajd tytułowy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7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151F"/>
              </a:buClr>
              <a:buSzPts val="4500"/>
              <a:buFont typeface="Play"/>
              <a:buNone/>
              <a:defRPr sz="45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7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55" name="Google Shape;255;p1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1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1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sp>
        <p:nvSpPr>
          <p:cNvPr id="258" name="Google Shape;258;p117"/>
          <p:cNvSpPr txBox="1"/>
          <p:nvPr/>
        </p:nvSpPr>
        <p:spPr>
          <a:xfrm>
            <a:off x="0" y="4744528"/>
            <a:ext cx="586595" cy="398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l-PL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zawartość" type="obj">
  <p:cSld name="OBJECT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151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118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2" name="Google Shape;262;p1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1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1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główek sekcji" type="secHead">
  <p:cSld name="SECTION_HEADER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151F"/>
              </a:buClr>
              <a:buSzPts val="4500"/>
              <a:buFont typeface="Play"/>
              <a:buNone/>
              <a:defRPr sz="45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119"/>
          <p:cNvSpPr txBox="1"/>
          <p:nvPr>
            <p:ph idx="1" type="body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1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1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wa elementy zawartości" type="twoObj">
  <p:cSld name="TWO_OBJECTS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151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12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4" name="Google Shape;274;p120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5" name="Google Shape;275;p1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1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1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ównanie" type="twoTxTwoObj">
  <p:cSld name="TWO_OBJECTS_WITH_TEXT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1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151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121"/>
          <p:cNvSpPr txBox="1"/>
          <p:nvPr>
            <p:ph idx="1" type="body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81" name="Google Shape;281;p121"/>
          <p:cNvSpPr txBox="1"/>
          <p:nvPr>
            <p:ph idx="2" type="body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2" name="Google Shape;282;p121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83" name="Google Shape;283;p121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4" name="Google Shape;284;p1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1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1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lko tytuł" type="titleOnly">
  <p:cSld name="TITLE_ONLY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151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1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1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1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sty" type="blank">
  <p:cSld name="BLANK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1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1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awartość z podpisem" type="objTx">
  <p:cSld name="OBJECT_WITH_CAPTION_TEXT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151F"/>
              </a:buClr>
              <a:buSzPts val="2400"/>
              <a:buFont typeface="Play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12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2400"/>
              <a:buChar char="▪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2100"/>
              <a:buChar char="–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500"/>
              <a:buChar char="–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500"/>
              <a:buChar char="–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299" name="Google Shape;299;p124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300" name="Google Shape;300;p1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1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1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raz z podpisem" type="picTx">
  <p:cSld name="PICTURE_WITH_CAPTION_TEXT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5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151F"/>
              </a:buClr>
              <a:buSzPts val="2400"/>
              <a:buFont typeface="Play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1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125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307" name="Google Shape;307;p1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1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1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tekst pionowy" type="vertTx">
  <p:cSld name="VERTICAL_TEXT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2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151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126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3" name="Google Shape;313;p1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12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1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pionowy i tekst" type="vertTitleAndTx">
  <p:cSld name="VERTICAL_TITLE_AND_VERTICAL_TEXT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27"/>
          <p:cNvSpPr txBox="1"/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151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127"/>
          <p:cNvSpPr txBox="1"/>
          <p:nvPr>
            <p:ph idx="1" type="body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9" name="Google Shape;319;p1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12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12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asny z obrazkiem">
  <p:cSld name="Jasny z obrazkiem">
    <p:bg>
      <p:bgPr>
        <a:solidFill>
          <a:schemeClr val="lt1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9"/>
          <p:cNvSpPr txBox="1"/>
          <p:nvPr>
            <p:ph idx="1" type="body"/>
          </p:nvPr>
        </p:nvSpPr>
        <p:spPr>
          <a:xfrm>
            <a:off x="609599" y="1165224"/>
            <a:ext cx="4950759" cy="30714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Noto Sans Symbols"/>
              <a:buNone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Play"/>
              <a:buChar char="–"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Play"/>
              <a:buChar char="–"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oto Sans Symbols"/>
              <a:buChar char="▪"/>
              <a:defRPr sz="1400"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oto Sans Symbols"/>
              <a:buChar char="▪"/>
              <a:defRPr sz="1400">
                <a:latin typeface="Play"/>
                <a:ea typeface="Play"/>
                <a:cs typeface="Play"/>
                <a:sym typeface="Play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9" name="Google Shape;329;p39"/>
          <p:cNvSpPr txBox="1"/>
          <p:nvPr>
            <p:ph idx="2" type="body"/>
          </p:nvPr>
        </p:nvSpPr>
        <p:spPr>
          <a:xfrm>
            <a:off x="579420" y="312660"/>
            <a:ext cx="8145480" cy="528006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000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5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0" name="Google Shape;330;p39"/>
          <p:cNvSpPr/>
          <p:nvPr>
            <p:ph idx="3" type="pic"/>
          </p:nvPr>
        </p:nvSpPr>
        <p:spPr>
          <a:xfrm>
            <a:off x="5883088" y="1355725"/>
            <a:ext cx="2964050" cy="2881313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39"/>
          <p:cNvSpPr txBox="1"/>
          <p:nvPr/>
        </p:nvSpPr>
        <p:spPr>
          <a:xfrm>
            <a:off x="0" y="4744528"/>
            <a:ext cx="586595" cy="398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l-PL" sz="12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ykły jasny">
  <p:cSld name="Zwykły jasny">
    <p:bg>
      <p:bgPr>
        <a:solidFill>
          <a:schemeClr val="lt1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3"/>
          <p:cNvSpPr txBox="1"/>
          <p:nvPr>
            <p:ph idx="1" type="body"/>
          </p:nvPr>
        </p:nvSpPr>
        <p:spPr>
          <a:xfrm>
            <a:off x="609600" y="1165224"/>
            <a:ext cx="8145780" cy="30714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Noto Sans Symbols"/>
              <a:buNone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Play"/>
              <a:buChar char="–"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Play"/>
              <a:buChar char="–"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oto Sans Symbols"/>
              <a:buChar char="▪"/>
              <a:defRPr sz="1400"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oto Sans Symbols"/>
              <a:buChar char="▪"/>
              <a:defRPr sz="1400">
                <a:latin typeface="Play"/>
                <a:ea typeface="Play"/>
                <a:cs typeface="Play"/>
                <a:sym typeface="Play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4" name="Google Shape;334;p43"/>
          <p:cNvSpPr txBox="1"/>
          <p:nvPr>
            <p:ph idx="2" type="body"/>
          </p:nvPr>
        </p:nvSpPr>
        <p:spPr>
          <a:xfrm>
            <a:off x="579420" y="312660"/>
            <a:ext cx="8145480" cy="624187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000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5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5" name="Google Shape;335;p43"/>
          <p:cNvSpPr txBox="1"/>
          <p:nvPr/>
        </p:nvSpPr>
        <p:spPr>
          <a:xfrm>
            <a:off x="0" y="4744528"/>
            <a:ext cx="586595" cy="398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l-PL" sz="12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8" name="Google Shape;338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39" name="Google Shape;339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42" name="Google Shape;342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343" name="Google Shape;343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81813" y="4471989"/>
            <a:ext cx="1857376" cy="372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showMasterSp="0" type="tx">
  <p:cSld name="TITLE_AND_BODY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7" name="Google Shape;347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8" name="Google Shape;348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1" name="Google Shape;351;p5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2" name="Google Shape;352;p5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3" name="Google Shape;353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354" name="Google Shape;354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3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7" name="Google Shape;357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358" name="Google Shape;358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3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1_One column text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1" name="Google Shape;361;p5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2" name="Google Shape;362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363" name="Google Shape;363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1_Main point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6" name="Google Shape;366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367" name="Google Shape;367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3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1_Section title and description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5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1" name="Google Shape;371;p5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2" name="Google Shape;372;p5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3" name="Google Shape;373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374" name="Google Shape;374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3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1_Caption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7" name="Google Shape;377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378" name="Google Shape;378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3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1_Big number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6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81" name="Google Shape;381;p5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2" name="Google Shape;382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383" name="Google Shape;383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3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386" name="Google Shape;386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9" name="Google Shape;389;p5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0" name="Google Shape;390;p5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1" name="Google Shape;391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392" name="Google Shape;392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3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5" name="Google Shape;395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396" name="Google Shape;396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9" name="Google Shape;399;p6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0" name="Google Shape;400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401" name="Google Shape;401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4" name="Google Shape;404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405" name="Google Shape;405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6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9" name="Google Shape;409;p6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0" name="Google Shape;410;p6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1" name="Google Shape;411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412" name="Google Shape;412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5" name="Google Shape;415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416" name="Google Shape;416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4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419" name="Google Shape;419;p6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0" name="Google Shape;420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421" name="Google Shape;421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asny jedna kolumna">
  <p:cSld name="Jasny jedna kolumna">
    <p:bg>
      <p:bgPr>
        <a:solidFill>
          <a:schemeClr val="lt1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1"/>
          <p:cNvSpPr txBox="1"/>
          <p:nvPr>
            <p:ph idx="1" type="body"/>
          </p:nvPr>
        </p:nvSpPr>
        <p:spPr>
          <a:xfrm>
            <a:off x="609600" y="1165224"/>
            <a:ext cx="8145780" cy="3071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Noto Sans Symbols"/>
              <a:buNone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Play"/>
              <a:buChar char="–"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Play"/>
              <a:buChar char="–"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Noto Sans Symbols"/>
              <a:buChar char="▪"/>
              <a:defRPr sz="1400"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Noto Sans Symbols"/>
              <a:buChar char="▪"/>
              <a:defRPr sz="1400"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3" name="Google Shape;433;p41"/>
          <p:cNvSpPr txBox="1"/>
          <p:nvPr>
            <p:ph idx="2" type="body"/>
          </p:nvPr>
        </p:nvSpPr>
        <p:spPr>
          <a:xfrm>
            <a:off x="579420" y="312660"/>
            <a:ext cx="8145480" cy="528006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00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2500"/>
              <a:buNone/>
              <a:defRPr b="1" sz="25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2385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–"/>
              <a:defRPr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4325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Char char="–"/>
              <a:defRPr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1432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Char char="–"/>
              <a:defRPr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4" name="Google Shape;434;p41"/>
          <p:cNvSpPr txBox="1"/>
          <p:nvPr/>
        </p:nvSpPr>
        <p:spPr>
          <a:xfrm>
            <a:off x="0" y="4744528"/>
            <a:ext cx="586595" cy="398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l-PL" sz="12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asny z obrazkiem">
  <p:cSld name="Jasny z obrazkiem">
    <p:bg>
      <p:bgPr>
        <a:solidFill>
          <a:schemeClr val="lt1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4"/>
          <p:cNvSpPr txBox="1"/>
          <p:nvPr>
            <p:ph idx="1" type="body"/>
          </p:nvPr>
        </p:nvSpPr>
        <p:spPr>
          <a:xfrm>
            <a:off x="609599" y="1165224"/>
            <a:ext cx="4950759" cy="3071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Noto Sans Symbols"/>
              <a:buNone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Play"/>
              <a:buChar char="–"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Play"/>
              <a:buChar char="–"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Noto Sans Symbols"/>
              <a:buChar char="▪"/>
              <a:defRPr sz="1400"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Noto Sans Symbols"/>
              <a:buChar char="▪"/>
              <a:defRPr sz="1400"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7" name="Google Shape;437;p44"/>
          <p:cNvSpPr txBox="1"/>
          <p:nvPr>
            <p:ph idx="2" type="body"/>
          </p:nvPr>
        </p:nvSpPr>
        <p:spPr>
          <a:xfrm>
            <a:off x="579420" y="312660"/>
            <a:ext cx="8145480" cy="528006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00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2500"/>
              <a:buNone/>
              <a:defRPr b="1" sz="25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2385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–"/>
              <a:defRPr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4325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Char char="–"/>
              <a:defRPr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1432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Char char="–"/>
              <a:defRPr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8" name="Google Shape;438;p44"/>
          <p:cNvSpPr/>
          <p:nvPr>
            <p:ph idx="3" type="pic"/>
          </p:nvPr>
        </p:nvSpPr>
        <p:spPr>
          <a:xfrm>
            <a:off x="5883088" y="1355725"/>
            <a:ext cx="2964050" cy="288131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ajd tytułowy" type="title">
  <p:cSld name="TITLE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83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151F"/>
              </a:buClr>
              <a:buSzPts val="4500"/>
              <a:buFont typeface="Play"/>
              <a:buNone/>
              <a:defRPr sz="45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1" name="Google Shape;441;p83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42" name="Google Shape;442;p8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3" name="Google Shape;443;p8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8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sp>
        <p:nvSpPr>
          <p:cNvPr id="445" name="Google Shape;445;p83"/>
          <p:cNvSpPr txBox="1"/>
          <p:nvPr/>
        </p:nvSpPr>
        <p:spPr>
          <a:xfrm>
            <a:off x="0" y="4744528"/>
            <a:ext cx="586595" cy="398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l-PL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zawartość" type="obj">
  <p:cSld name="OBJECT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8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151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8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9" name="Google Shape;449;p8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0" name="Google Shape;450;p8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1" name="Google Shape;451;p8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główek sekcji" type="secHead">
  <p:cSld name="SECTION_HEADER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85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151F"/>
              </a:buClr>
              <a:buSzPts val="4500"/>
              <a:buFont typeface="Play"/>
              <a:buNone/>
              <a:defRPr sz="45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4" name="Google Shape;454;p85"/>
          <p:cNvSpPr txBox="1"/>
          <p:nvPr>
            <p:ph idx="1" type="body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5" name="Google Shape;455;p8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6" name="Google Shape;456;p8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7" name="Google Shape;457;p8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wa elementy zawartości" type="twoObj">
  <p:cSld name="TWO_OBJECTS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8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151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0" name="Google Shape;460;p86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1" name="Google Shape;461;p86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2" name="Google Shape;462;p8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8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8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ównanie" type="twoTxTwoObj">
  <p:cSld name="TWO_OBJECTS_WITH_TEXT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87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151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87"/>
          <p:cNvSpPr txBox="1"/>
          <p:nvPr>
            <p:ph idx="1" type="body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68" name="Google Shape;468;p87"/>
          <p:cNvSpPr txBox="1"/>
          <p:nvPr>
            <p:ph idx="2" type="body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9" name="Google Shape;469;p87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0" name="Google Shape;470;p87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1" name="Google Shape;471;p8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2" name="Google Shape;472;p8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3" name="Google Shape;473;p8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lko tytuł" type="titleOnly">
  <p:cSld name="TITLE_ONLY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8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151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8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7" name="Google Shape;477;p8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8" name="Google Shape;478;p8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sty" type="blank">
  <p:cSld name="BLANK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1" name="Google Shape;481;p8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2" name="Google Shape;482;p8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awartość z podpisem" type="objTx">
  <p:cSld name="OBJECT_WITH_CAPTION_TEXT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90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151F"/>
              </a:buClr>
              <a:buSzPts val="2400"/>
              <a:buFont typeface="Play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5" name="Google Shape;485;p90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2400"/>
              <a:buChar char="▪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2100"/>
              <a:buChar char="–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500"/>
              <a:buChar char="–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500"/>
              <a:buChar char="–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486" name="Google Shape;486;p90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487" name="Google Shape;487;p9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8" name="Google Shape;488;p9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9" name="Google Shape;489;p9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raz z podpisem" type="picTx">
  <p:cSld name="PICTURE_WITH_CAPTION_TEXT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9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151F"/>
              </a:buClr>
              <a:buSzPts val="2400"/>
              <a:buFont typeface="Play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2" name="Google Shape;492;p91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493" name="Google Shape;493;p91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494" name="Google Shape;494;p9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5" name="Google Shape;495;p9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6" name="Google Shape;496;p9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tekst pionowy" type="vertTx">
  <p:cSld name="VERTICAL_TEXT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9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151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9" name="Google Shape;499;p92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0" name="Google Shape;500;p9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1" name="Google Shape;501;p9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2" name="Google Shape;502;p9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pionowy i tekst" type="vertTitleAndTx">
  <p:cSld name="VERTICAL_TITLE_AND_VERTICAL_TEXT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93"/>
          <p:cNvSpPr txBox="1"/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151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5" name="Google Shape;505;p93"/>
          <p:cNvSpPr txBox="1"/>
          <p:nvPr>
            <p:ph idx="1" type="body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6" name="Google Shape;506;p9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7" name="Google Shape;507;p9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8" name="Google Shape;508;p9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6" name="Google Shape;516;p4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17" name="Google Shape;517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sp>
        <p:nvSpPr>
          <p:cNvPr id="518" name="Google Shape;518;p47"/>
          <p:cNvSpPr txBox="1"/>
          <p:nvPr/>
        </p:nvSpPr>
        <p:spPr>
          <a:xfrm>
            <a:off x="0" y="4744528"/>
            <a:ext cx="586595" cy="398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l-PL" sz="12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ykły jasny">
  <p:cSld name="Zwykły jasny">
    <p:bg>
      <p:bgPr>
        <a:solidFill>
          <a:schemeClr val="lt1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28"/>
          <p:cNvSpPr txBox="1"/>
          <p:nvPr>
            <p:ph idx="1" type="body"/>
          </p:nvPr>
        </p:nvSpPr>
        <p:spPr>
          <a:xfrm>
            <a:off x="609600" y="1165224"/>
            <a:ext cx="8145780" cy="30714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Noto Sans Symbols"/>
              <a:buNone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Play"/>
              <a:buChar char="–"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Play"/>
              <a:buChar char="–"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oto Sans Symbols"/>
              <a:buChar char="▪"/>
              <a:defRPr sz="1400"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oto Sans Symbols"/>
              <a:buChar char="▪"/>
              <a:defRPr sz="1400">
                <a:latin typeface="Play"/>
                <a:ea typeface="Play"/>
                <a:cs typeface="Play"/>
                <a:sym typeface="Play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1" name="Google Shape;521;p128"/>
          <p:cNvSpPr txBox="1"/>
          <p:nvPr>
            <p:ph idx="2" type="body"/>
          </p:nvPr>
        </p:nvSpPr>
        <p:spPr>
          <a:xfrm>
            <a:off x="579420" y="312660"/>
            <a:ext cx="8145480" cy="624187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000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5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2" name="Google Shape;522;p128"/>
          <p:cNvSpPr txBox="1"/>
          <p:nvPr/>
        </p:nvSpPr>
        <p:spPr>
          <a:xfrm>
            <a:off x="0" y="4744528"/>
            <a:ext cx="586595" cy="398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l-PL" sz="12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asny z obrazkiem">
  <p:cSld name="Jasny z obrazkiem">
    <p:bg>
      <p:bgPr>
        <a:solidFill>
          <a:schemeClr val="lt1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29"/>
          <p:cNvSpPr txBox="1"/>
          <p:nvPr>
            <p:ph idx="1" type="body"/>
          </p:nvPr>
        </p:nvSpPr>
        <p:spPr>
          <a:xfrm>
            <a:off x="609599" y="1165224"/>
            <a:ext cx="4950759" cy="30714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Noto Sans Symbols"/>
              <a:buNone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Play"/>
              <a:buChar char="–"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Play"/>
              <a:buChar char="–"/>
              <a:defRPr sz="14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oto Sans Symbols"/>
              <a:buChar char="▪"/>
              <a:defRPr sz="1400"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oto Sans Symbols"/>
              <a:buChar char="▪"/>
              <a:defRPr sz="1400">
                <a:latin typeface="Play"/>
                <a:ea typeface="Play"/>
                <a:cs typeface="Play"/>
                <a:sym typeface="Play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5" name="Google Shape;525;p129"/>
          <p:cNvSpPr txBox="1"/>
          <p:nvPr>
            <p:ph idx="2" type="body"/>
          </p:nvPr>
        </p:nvSpPr>
        <p:spPr>
          <a:xfrm>
            <a:off x="579420" y="312660"/>
            <a:ext cx="8145480" cy="528006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000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5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6" name="Google Shape;526;p129"/>
          <p:cNvSpPr/>
          <p:nvPr>
            <p:ph idx="3" type="pic"/>
          </p:nvPr>
        </p:nvSpPr>
        <p:spPr>
          <a:xfrm>
            <a:off x="5883088" y="1355725"/>
            <a:ext cx="2964050" cy="2881313"/>
          </a:xfrm>
          <a:prstGeom prst="rect">
            <a:avLst/>
          </a:prstGeom>
          <a:noFill/>
          <a:ln>
            <a:noFill/>
          </a:ln>
        </p:spPr>
      </p:sp>
      <p:sp>
        <p:nvSpPr>
          <p:cNvPr id="527" name="Google Shape;527;p129"/>
          <p:cNvSpPr txBox="1"/>
          <p:nvPr/>
        </p:nvSpPr>
        <p:spPr>
          <a:xfrm>
            <a:off x="0" y="4744528"/>
            <a:ext cx="586595" cy="398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l-PL" sz="12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30" name="Google Shape;530;p1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531" name="Google Shape;531;p1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13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81813" y="4471989"/>
            <a:ext cx="1857376" cy="372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showMasterSp="0" type="tx">
  <p:cSld name="TITLE_AND_BODY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5" name="Google Shape;535;p1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6" name="Google Shape;536;p1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9" name="Google Shape;539;p13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0" name="Google Shape;540;p1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1" name="Google Shape;541;p1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542" name="Google Shape;542;p1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3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5" name="Google Shape;545;p1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546" name="Google Shape;546;p1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3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9" name="Google Shape;549;p1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0" name="Google Shape;550;p1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551" name="Google Shape;551;p1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54" name="Google Shape;554;p1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555" name="Google Shape;555;p1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3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59" name="Google Shape;559;p1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60" name="Google Shape;560;p1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1" name="Google Shape;561;p1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562" name="Google Shape;562;p1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3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3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5" name="Google Shape;565;p1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566" name="Google Shape;566;p1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3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38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569" name="Google Shape;569;p1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0" name="Google Shape;570;p1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571" name="Google Shape;571;p1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3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574" name="Google Shape;574;p1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1_Title and two columns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7" name="Google Shape;577;p14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78" name="Google Shape;578;p14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79" name="Google Shape;579;p1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580" name="Google Shape;580;p1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3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_Title only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3" name="Google Shape;583;p1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584" name="Google Shape;584;p1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1_One column text"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4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7" name="Google Shape;587;p14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8" name="Google Shape;588;p1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589" name="Google Shape;589;p1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1_Main point"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4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92" name="Google Shape;592;p1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593" name="Google Shape;593;p1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1_Section title and description"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4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14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97" name="Google Shape;597;p14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8" name="Google Shape;598;p14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9" name="Google Shape;599;p1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600" name="Google Shape;600;p1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1_Caption"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3" name="Google Shape;603;p1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604" name="Google Shape;604;p1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1_Big number"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46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607" name="Google Shape;607;p1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8" name="Google Shape;608;p1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609" name="Google Shape;609;p1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1_Blank"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5" Type="http://schemas.openxmlformats.org/officeDocument/2006/relationships/theme" Target="../theme/theme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2.xml"/><Relationship Id="rId22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43.xml"/><Relationship Id="rId23" Type="http://schemas.openxmlformats.org/officeDocument/2006/relationships/theme" Target="../theme/theme7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41.xml"/><Relationship Id="rId18" Type="http://schemas.openxmlformats.org/officeDocument/2006/relationships/slideLayout" Target="../slideLayouts/slideLayout40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8.xml"/><Relationship Id="rId6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0.xml"/><Relationship Id="rId8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0.xml"/><Relationship Id="rId16" Type="http://schemas.openxmlformats.org/officeDocument/2006/relationships/slideLayout" Target="../slideLayouts/slideLayout59.xml"/><Relationship Id="rId18" Type="http://schemas.openxmlformats.org/officeDocument/2006/relationships/theme" Target="../theme/theme5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79.xml"/><Relationship Id="rId22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0.xml"/><Relationship Id="rId23" Type="http://schemas.openxmlformats.org/officeDocument/2006/relationships/theme" Target="../theme/theme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3.xml"/><Relationship Id="rId17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7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2.xml"/><Relationship Id="rId3" Type="http://schemas.openxmlformats.org/officeDocument/2006/relationships/slideLayout" Target="../slideLayouts/slideLayout83.xml"/><Relationship Id="rId4" Type="http://schemas.openxmlformats.org/officeDocument/2006/relationships/slideLayout" Target="../slideLayouts/slideLayout84.xml"/><Relationship Id="rId9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5.xml"/><Relationship Id="rId6" Type="http://schemas.openxmlformats.org/officeDocument/2006/relationships/slideLayout" Target="../slideLayouts/slideLayout86.xml"/><Relationship Id="rId7" Type="http://schemas.openxmlformats.org/officeDocument/2006/relationships/slideLayout" Target="../slideLayouts/slideLayout87.xml"/><Relationship Id="rId8" Type="http://schemas.openxmlformats.org/officeDocument/2006/relationships/slideLayout" Target="../slideLayouts/slideLayout88.xml"/><Relationship Id="rId11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90.xml"/><Relationship Id="rId13" Type="http://schemas.openxmlformats.org/officeDocument/2006/relationships/slideLayout" Target="../slideLayouts/slideLayout93.xml"/><Relationship Id="rId12" Type="http://schemas.openxmlformats.org/officeDocument/2006/relationships/slideLayout" Target="../slideLayouts/slideLayout92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94.xml"/></Relationships>
</file>

<file path=ppt/slideMasters/_rels/slideMaster6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13.xml"/><Relationship Id="rId22" Type="http://schemas.openxmlformats.org/officeDocument/2006/relationships/slideLayout" Target="../slideLayouts/slideLayout115.xml"/><Relationship Id="rId21" Type="http://schemas.openxmlformats.org/officeDocument/2006/relationships/slideLayout" Target="../slideLayouts/slideLayout114.xml"/><Relationship Id="rId23" Type="http://schemas.openxmlformats.org/officeDocument/2006/relationships/theme" Target="../theme/theme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5.xml"/><Relationship Id="rId3" Type="http://schemas.openxmlformats.org/officeDocument/2006/relationships/slideLayout" Target="../slideLayouts/slideLayout96.xml"/><Relationship Id="rId4" Type="http://schemas.openxmlformats.org/officeDocument/2006/relationships/slideLayout" Target="../slideLayouts/slideLayout97.xml"/><Relationship Id="rId9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98.xml"/><Relationship Id="rId6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0.xml"/><Relationship Id="rId8" Type="http://schemas.openxmlformats.org/officeDocument/2006/relationships/slideLayout" Target="../slideLayouts/slideLayout101.xml"/><Relationship Id="rId11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3.xml"/><Relationship Id="rId13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05.xml"/><Relationship Id="rId15" Type="http://schemas.openxmlformats.org/officeDocument/2006/relationships/slideLayout" Target="../slideLayouts/slideLayout108.xml"/><Relationship Id="rId14" Type="http://schemas.openxmlformats.org/officeDocument/2006/relationships/slideLayout" Target="../slideLayouts/slideLayout107.xml"/><Relationship Id="rId17" Type="http://schemas.openxmlformats.org/officeDocument/2006/relationships/slideLayout" Target="../slideLayouts/slideLayout110.xml"/><Relationship Id="rId16" Type="http://schemas.openxmlformats.org/officeDocument/2006/relationships/slideLayout" Target="../slideLayouts/slideLayout109.xml"/><Relationship Id="rId19" Type="http://schemas.openxmlformats.org/officeDocument/2006/relationships/slideLayout" Target="../slideLayouts/slideLayout112.xml"/><Relationship Id="rId18" Type="http://schemas.openxmlformats.org/officeDocument/2006/relationships/slideLayout" Target="../slideLayouts/slideLayout1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9" name="Google Shape;9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" name="Google Shape;12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124" name="Google Shape;124;p3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892808" y="4464574"/>
            <a:ext cx="1854000" cy="39728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151F"/>
              </a:buClr>
              <a:buSzPts val="3300"/>
              <a:buFont typeface="Play"/>
              <a:buNone/>
              <a:defRPr b="0" i="0" sz="3300" u="none" cap="none" strike="noStrike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5" name="Google Shape;225;p3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2100"/>
              <a:buFont typeface="Noto Sans Symbols"/>
              <a:buChar char="▪"/>
              <a:defRPr b="0" i="0" sz="2100" u="none" cap="none" strike="noStrike">
                <a:solidFill>
                  <a:srgbClr val="14151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Font typeface="Calibri"/>
              <a:buChar char="–"/>
              <a:defRPr b="0" i="0" sz="1800" u="none" cap="none" strike="noStrike">
                <a:solidFill>
                  <a:srgbClr val="14151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500"/>
              <a:buFont typeface="Calibri"/>
              <a:buChar char="–"/>
              <a:defRPr b="0" i="0" sz="1500" u="none" cap="none" strike="noStrike">
                <a:solidFill>
                  <a:srgbClr val="14151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350"/>
              <a:buFont typeface="Calibri"/>
              <a:buChar char="–"/>
              <a:defRPr b="0" i="0" sz="1350" u="none" cap="none" strike="noStrike">
                <a:solidFill>
                  <a:srgbClr val="14151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350"/>
              <a:buFont typeface="Calibri"/>
              <a:buChar char="–"/>
              <a:defRPr b="0" i="0" sz="1350" u="none" cap="none" strike="noStrike">
                <a:solidFill>
                  <a:srgbClr val="14151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6" name="Google Shape;226;p3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7" name="Google Shape;227;p3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8" name="Google Shape;228;p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229" name="Google Shape;229;p3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4" name="Google Shape;324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5" name="Google Shape;325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326" name="Google Shape;326;p3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892808" y="4461574"/>
            <a:ext cx="1854000" cy="39728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  <p:sldLayoutId id="2147483728" r:id="rId18"/>
    <p:sldLayoutId id="2147483729" r:id="rId19"/>
    <p:sldLayoutId id="2147483730" r:id="rId20"/>
    <p:sldLayoutId id="2147483731" r:id="rId21"/>
    <p:sldLayoutId id="2147483732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151F"/>
              </a:buClr>
              <a:buSzPts val="3300"/>
              <a:buFont typeface="Play"/>
              <a:buNone/>
              <a:defRPr b="0" i="0" sz="3300" u="none" cap="none" strike="noStrike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26" name="Google Shape;426;p40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4151F"/>
              </a:buClr>
              <a:buSzPts val="2100"/>
              <a:buFont typeface="Noto Sans Symbols"/>
              <a:buChar char="▪"/>
              <a:defRPr b="0" i="0" sz="2100" u="none" cap="none" strike="noStrike">
                <a:solidFill>
                  <a:srgbClr val="14151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800"/>
              <a:buFont typeface="Calibri"/>
              <a:buChar char="–"/>
              <a:defRPr b="0" i="0" sz="1800" u="none" cap="none" strike="noStrike">
                <a:solidFill>
                  <a:srgbClr val="14151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500"/>
              <a:buFont typeface="Calibri"/>
              <a:buChar char="–"/>
              <a:defRPr b="0" i="0" sz="1500" u="none" cap="none" strike="noStrike">
                <a:solidFill>
                  <a:srgbClr val="14151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350"/>
              <a:buFont typeface="Calibri"/>
              <a:buChar char="–"/>
              <a:defRPr b="0" i="0" sz="1350" u="none" cap="none" strike="noStrike">
                <a:solidFill>
                  <a:srgbClr val="14151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4151F"/>
              </a:buClr>
              <a:buSzPts val="1350"/>
              <a:buFont typeface="Calibri"/>
              <a:buChar char="–"/>
              <a:defRPr b="0" i="0" sz="1350" u="none" cap="none" strike="noStrike">
                <a:solidFill>
                  <a:srgbClr val="14151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7" name="Google Shape;427;p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8" name="Google Shape;428;p4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9" name="Google Shape;429;p4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430" name="Google Shape;430;p4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1" name="Google Shape;511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2" name="Google Shape;512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pic>
        <p:nvPicPr>
          <p:cNvPr id="513" name="Google Shape;513;p4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892808" y="4460417"/>
            <a:ext cx="1854000" cy="3996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  <p:sldLayoutId id="2147483764" r:id="rId18"/>
    <p:sldLayoutId id="2147483765" r:id="rId19"/>
    <p:sldLayoutId id="2147483766" r:id="rId20"/>
    <p:sldLayoutId id="2147483767" r:id="rId21"/>
    <p:sldLayoutId id="2147483768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oaction.pl/angielski-it-indywidualnie/?utm_source=oferta&amp;utm_medium=pdf&amp;utm_campaign=oferta-dla-b2c&amp;utm_content=przycisk-do-warsztatow#oferta" TargetMode="External"/><Relationship Id="rId4" Type="http://schemas.openxmlformats.org/officeDocument/2006/relationships/hyperlink" Target="https://coaction.pl/english-plus-business-skills/?utm_source=oferta&amp;utm_medium=pdf&amp;utm_campaign=oferta-dla-b2c&amp;utm_content=przycisk-do-warsztatow#oferta" TargetMode="External"/><Relationship Id="rId5" Type="http://schemas.openxmlformats.org/officeDocument/2006/relationships/hyperlink" Target="https://coaction.pl/english-plus-business-skills/?utm_source=oferta&amp;utm_medium=pdf&amp;utm_campaign=oferta-dla-b2c&amp;utm_content=przycisk-do-warsztatow#oferta" TargetMode="External"/><Relationship Id="rId6" Type="http://schemas.openxmlformats.org/officeDocument/2006/relationships/hyperlink" Target="https://coaction.pl/o-nas/newsletter-business-english-for-it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oaction.pl/lektorzy-angielskiego/?utm_source=oferta&amp;utm_medium=pdf&amp;utm_campaign=oferta-dla-b2c&amp;utm_content=przycisk-do-sylwetek-lektorow#lektorzy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coaction.pl/lektorzy-angielskiego/?utm_source=oferta&amp;utm_medium=pdf&amp;utm_campaign=b2b-przed-discovery&amp;utm_content=przycisk-do-sylwetek-lektorow#lektorzy" TargetMode="External"/><Relationship Id="rId4" Type="http://schemas.openxmlformats.org/officeDocument/2006/relationships/hyperlink" Target="https://coaction.pl/lektorzy-angielskiego/?utm_source=oferta&amp;utm_medium=pdf&amp;utm_campaign=b2b-przed-discovery&amp;utm_content=przycisk-do-sylwetek-lektorow#lektorzy" TargetMode="External"/><Relationship Id="rId5" Type="http://schemas.openxmlformats.org/officeDocument/2006/relationships/hyperlink" Target="https://coaction.pl/lektorzy-angielskiego/?utm_source=oferta&amp;utm_medium=pdf&amp;utm_campaign=b2b-przed-discovery&amp;utm_content=przycisk-do-sylwetek-lektorow#lektorzy" TargetMode="External"/><Relationship Id="rId6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youtu.be/D0FRtWd_Acw" TargetMode="External"/><Relationship Id="rId4" Type="http://schemas.openxmlformats.org/officeDocument/2006/relationships/image" Target="../media/image17.jpg"/><Relationship Id="rId9" Type="http://schemas.openxmlformats.org/officeDocument/2006/relationships/image" Target="../media/image20.png"/><Relationship Id="rId5" Type="http://schemas.openxmlformats.org/officeDocument/2006/relationships/hyperlink" Target="https://youtu.be/amzFxgKFqmY" TargetMode="External"/><Relationship Id="rId6" Type="http://schemas.openxmlformats.org/officeDocument/2006/relationships/image" Target="../media/image19.png"/><Relationship Id="rId7" Type="http://schemas.openxmlformats.org/officeDocument/2006/relationships/image" Target="../media/image21.jpg"/><Relationship Id="rId8" Type="http://schemas.openxmlformats.org/officeDocument/2006/relationships/hyperlink" Target="https://youtu.be/amzFxgKFqmY" TargetMode="External"/><Relationship Id="rId11" Type="http://schemas.openxmlformats.org/officeDocument/2006/relationships/image" Target="../media/image22.png"/><Relationship Id="rId10" Type="http://schemas.openxmlformats.org/officeDocument/2006/relationships/hyperlink" Target="https://youtu.be/amzFxgKFqmY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jpg"/><Relationship Id="rId4" Type="http://schemas.openxmlformats.org/officeDocument/2006/relationships/image" Target="../media/image27.png"/><Relationship Id="rId5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jp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F"/>
        </a:solidFill>
      </p:bgPr>
    </p:bg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" name="Google Shape;6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056" y="582352"/>
            <a:ext cx="4267848" cy="4267848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1"/>
          <p:cNvSpPr txBox="1"/>
          <p:nvPr/>
        </p:nvSpPr>
        <p:spPr>
          <a:xfrm>
            <a:off x="4701397" y="1421270"/>
            <a:ext cx="4097547" cy="25900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-PL" sz="2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Oferta szkolenia dla:</a:t>
            </a:r>
            <a:r>
              <a:rPr b="1" i="0" lang="pl-PL" sz="2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endParaRPr b="1" i="0" sz="28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pl-PL" sz="2800">
                <a:solidFill>
                  <a:srgbClr val="00B0F0"/>
                </a:solidFill>
                <a:latin typeface="Play"/>
                <a:ea typeface="Play"/>
                <a:cs typeface="Play"/>
                <a:sym typeface="Play"/>
              </a:rPr>
              <a:t>{{lead.contact_name}}</a:t>
            </a:r>
            <a:endParaRPr b="1" i="0" sz="2800" u="none" cap="none" strike="noStrike">
              <a:solidFill>
                <a:srgbClr val="00B0F0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-PL" sz="2400">
                <a:solidFill>
                  <a:srgbClr val="00B0F0"/>
                </a:solidFill>
                <a:latin typeface="Play"/>
                <a:ea typeface="Play"/>
                <a:cs typeface="Play"/>
                <a:sym typeface="Play"/>
              </a:rPr>
              <a:t>{{assessment.position}}</a:t>
            </a:r>
            <a:endParaRPr b="1" i="0" sz="2400" u="none" cap="none" strike="noStrike">
              <a:solidFill>
                <a:srgbClr val="00B0F0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b="1" i="0" lang="pl-PL" sz="135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1" lang="pl-PL" sz="135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{{offer.date}}</a:t>
            </a:r>
            <a:endParaRPr b="1" i="0" sz="1388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"/>
          <p:cNvSpPr txBox="1"/>
          <p:nvPr/>
        </p:nvSpPr>
        <p:spPr>
          <a:xfrm>
            <a:off x="361458" y="248963"/>
            <a:ext cx="8143843" cy="5546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pl-PL" sz="2500" u="none" cap="none" strike="noStrike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rPr>
              <a:t>Poziomy angielskiego według skali CEFR</a:t>
            </a:r>
            <a:endParaRPr b="1" i="0" sz="2500" u="none" cap="none" strike="noStrike">
              <a:solidFill>
                <a:srgbClr val="14151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23" name="Google Shape;623;p2"/>
          <p:cNvSpPr txBox="1"/>
          <p:nvPr/>
        </p:nvSpPr>
        <p:spPr>
          <a:xfrm>
            <a:off x="571322" y="4047545"/>
            <a:ext cx="531933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l-PL" sz="1600" u="none" cap="none" strike="noStrike">
                <a:solidFill>
                  <a:srgbClr val="4D76BC"/>
                </a:solidFill>
                <a:latin typeface="Play"/>
                <a:ea typeface="Play"/>
                <a:cs typeface="Play"/>
                <a:sym typeface="Play"/>
              </a:rPr>
              <a:t>Oceny cząstkowe: </a:t>
            </a:r>
            <a:r>
              <a:rPr b="0" i="0" lang="pl-PL" sz="1600" u="none" cap="none" strike="noStrike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rPr>
              <a:t>aby precyzyjniej wyrazić Twój poziom stosujemy dodatkowo części dziesiętne, np. B1.2.</a:t>
            </a:r>
            <a:endParaRPr b="0" i="0" sz="16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624" name="Google Shape;624;p2"/>
          <p:cNvPicPr preferRelativeResize="0"/>
          <p:nvPr/>
        </p:nvPicPr>
        <p:blipFill rotWithShape="1">
          <a:blip r:embed="rId3">
            <a:alphaModFix/>
          </a:blip>
          <a:srcRect b="12655" l="10372" r="10762" t="13264"/>
          <a:stretch/>
        </p:blipFill>
        <p:spPr>
          <a:xfrm>
            <a:off x="1864310" y="1056443"/>
            <a:ext cx="5388745" cy="2760955"/>
          </a:xfrm>
          <a:prstGeom prst="rect">
            <a:avLst/>
          </a:prstGeom>
          <a:noFill/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7150" rotWithShape="0" algn="tl" dir="2700000" dist="508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"/>
          <p:cNvSpPr txBox="1"/>
          <p:nvPr>
            <p:ph idx="2" type="body"/>
          </p:nvPr>
        </p:nvSpPr>
        <p:spPr>
          <a:xfrm>
            <a:off x="419100" y="123717"/>
            <a:ext cx="8145480" cy="624187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00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l-PL">
                <a:solidFill>
                  <a:srgbClr val="00B0F0"/>
                </a:solidFill>
                <a:latin typeface="Play"/>
                <a:ea typeface="Play"/>
                <a:cs typeface="Play"/>
                <a:sym typeface="Play"/>
              </a:rPr>
              <a:t>Potrzeba szkoleniowa – opis Twojej sytuacji</a:t>
            </a:r>
            <a:endParaRPr/>
          </a:p>
        </p:txBody>
      </p:sp>
      <p:sp>
        <p:nvSpPr>
          <p:cNvPr id="630" name="Google Shape;630;p3"/>
          <p:cNvSpPr/>
          <p:nvPr/>
        </p:nvSpPr>
        <p:spPr>
          <a:xfrm>
            <a:off x="579420" y="2843124"/>
            <a:ext cx="50718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31" name="Google Shape;631;p3"/>
          <p:cNvSpPr/>
          <p:nvPr/>
        </p:nvSpPr>
        <p:spPr>
          <a:xfrm>
            <a:off x="419100" y="747664"/>
            <a:ext cx="6231082" cy="4154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{{assessment.needs_summary}}</a:t>
            </a:r>
            <a:endParaRPr b="0" i="0" sz="11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aphicFrame>
        <p:nvGraphicFramePr>
          <p:cNvPr id="632" name="Google Shape;632;p3"/>
          <p:cNvGraphicFramePr/>
          <p:nvPr/>
        </p:nvGraphicFramePr>
        <p:xfrm>
          <a:off x="6654553" y="16869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{51BB26F6-610B-4FC4-9972-DB1B922C5485}</a:tableStyleId>
              </a:tblPr>
              <a:tblGrid>
                <a:gridCol w="1561025"/>
                <a:gridCol w="457300"/>
              </a:tblGrid>
              <a:tr h="2949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-PL" sz="12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Twój obecny poziom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510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C90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9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-PL" sz="12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Ogólny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510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C90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C90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C90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pl-PL" sz="1200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{{a.o}}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5100" marR="35100" marL="35100" anchor="ctr">
                    <a:lnL cap="flat" cmpd="sng" w="12700">
                      <a:solidFill>
                        <a:srgbClr val="8C90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C90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C90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2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Zakres języka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510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C90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C90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C90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200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{{a.r}}</a:t>
                      </a:r>
                      <a:endParaRPr/>
                    </a:p>
                  </a:txBody>
                  <a:tcPr marT="34300" marB="35100" marR="35100" marL="35100" anchor="ctr">
                    <a:lnL cap="flat" cmpd="sng" w="12700">
                      <a:solidFill>
                        <a:srgbClr val="8C90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C90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C90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2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Poprawność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510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C90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C90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C90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200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{{a.a}}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5100" marR="35100" marL="35100" anchor="ctr">
                    <a:lnL cap="flat" cmpd="sng" w="12700">
                      <a:solidFill>
                        <a:srgbClr val="8C90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C90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C90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2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Płynność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510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C90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C90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C90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200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{{a.f}}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5100" marR="35100" marL="35100" anchor="ctr">
                    <a:lnL cap="flat" cmpd="sng" w="12700">
                      <a:solidFill>
                        <a:srgbClr val="8C90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C90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C90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2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Komunikatywność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5100" marR="35100" marL="351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C90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C90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200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{{a.c}}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34300" marB="35100" marR="35100" marL="35100" anchor="ctr">
                    <a:lnL cap="flat" cmpd="sng" w="12700">
                      <a:solidFill>
                        <a:srgbClr val="8C90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C90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"/>
          <p:cNvSpPr txBox="1"/>
          <p:nvPr/>
        </p:nvSpPr>
        <p:spPr>
          <a:xfrm>
            <a:off x="361458" y="248963"/>
            <a:ext cx="8143843" cy="5546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34D399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38" name="Google Shape;638;p4"/>
          <p:cNvSpPr txBox="1"/>
          <p:nvPr/>
        </p:nvSpPr>
        <p:spPr>
          <a:xfrm>
            <a:off x="455416" y="244807"/>
            <a:ext cx="4511031" cy="9385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34D399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descr="Obraz zawierający krąg, zegar, zrzut ekranu, design&#10;&#10;Opis wygenerowany automatycznie" id="639" name="Google Shape;6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8113" y="1185458"/>
            <a:ext cx="3931005" cy="2788585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"/>
          <p:cNvSpPr txBox="1"/>
          <p:nvPr>
            <p:ph idx="1" type="body"/>
          </p:nvPr>
        </p:nvSpPr>
        <p:spPr>
          <a:xfrm>
            <a:off x="579418" y="824005"/>
            <a:ext cx="5765502" cy="351148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b="1" lang="pl-PL">
                <a:latin typeface="Play"/>
                <a:ea typeface="Play"/>
                <a:cs typeface="Play"/>
                <a:sym typeface="Play"/>
              </a:rPr>
              <a:t>MIĘDZYNARODOWA KOMUNIKACJA BIZNESOWA  W ROLI TALENT DEVELOPMENT AND COMMUNICATION MANAGER</a:t>
            </a:r>
            <a:br>
              <a:rPr lang="pl-PL"/>
            </a:br>
            <a:br>
              <a:rPr lang="pl-PL"/>
            </a:br>
            <a:r>
              <a:rPr lang="pl-PL" sz="1300">
                <a:latin typeface="Play"/>
                <a:ea typeface="Play"/>
                <a:cs typeface="Play"/>
                <a:sym typeface="Play"/>
              </a:rPr>
              <a:t>Dwa obszary rozwoju połączone w jeden spójny program rozwoju komunikacji w języku angielskim dopasowany do Twojej roli i obowiązków.</a:t>
            </a:r>
            <a:br>
              <a:rPr lang="pl-PL" sz="1300"/>
            </a:br>
            <a:br>
              <a:rPr lang="pl-PL" sz="1300"/>
            </a:br>
            <a:r>
              <a:rPr lang="pl-PL" sz="1300">
                <a:latin typeface="Play"/>
                <a:ea typeface="Play"/>
                <a:cs typeface="Play"/>
                <a:sym typeface="Play"/>
              </a:rPr>
              <a:t>✅ </a:t>
            </a:r>
            <a:r>
              <a:rPr b="1" lang="pl-PL" sz="1300">
                <a:latin typeface="Play"/>
                <a:ea typeface="Play"/>
                <a:cs typeface="Play"/>
                <a:sym typeface="Play"/>
              </a:rPr>
              <a:t>Business English – 60 godzin (2x60 min lub 1x90 min)</a:t>
            </a:r>
            <a:br>
              <a:rPr lang="pl-PL" sz="1300"/>
            </a:br>
            <a:r>
              <a:rPr lang="pl-PL" sz="1300">
                <a:latin typeface="Play"/>
                <a:ea typeface="Play"/>
                <a:cs typeface="Play"/>
                <a:sym typeface="Play"/>
              </a:rPr>
              <a:t>Budujesz płynność, precyzję i pewność siebie w języku angielskim w codziennej komunikacji z klientami i współpracownikami.</a:t>
            </a:r>
            <a:endParaRPr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800"/>
              </a:spcAft>
              <a:buSzPts val="1800"/>
              <a:buFont typeface="Noto Sans Symbols"/>
              <a:buNone/>
            </a:pPr>
            <a:r>
              <a:rPr lang="pl-PL" sz="1300">
                <a:latin typeface="Play"/>
                <a:ea typeface="Play"/>
                <a:cs typeface="Play"/>
                <a:sym typeface="Play"/>
              </a:rPr>
              <a:t>✅ </a:t>
            </a:r>
            <a:r>
              <a:rPr b="1" lang="pl-PL" sz="1300">
                <a:latin typeface="Play"/>
                <a:ea typeface="Play"/>
                <a:cs typeface="Play"/>
                <a:sym typeface="Play"/>
              </a:rPr>
              <a:t>English + Business Skills: Prowadzenie spotkań / warsztatów po angielsku – 15 godzin</a:t>
            </a:r>
            <a:br>
              <a:rPr lang="pl-PL" sz="1300"/>
            </a:br>
            <a:r>
              <a:rPr lang="pl-PL" sz="1300">
                <a:latin typeface="Play"/>
                <a:ea typeface="Play"/>
                <a:cs typeface="Play"/>
                <a:sym typeface="Play"/>
              </a:rPr>
              <a:t>Rozwijasz umiejętności prowadzenia spotkań / warsztatów po angielsku.</a:t>
            </a:r>
            <a:br>
              <a:rPr lang="pl-PL" sz="1300">
                <a:latin typeface="Play"/>
                <a:ea typeface="Play"/>
                <a:cs typeface="Play"/>
                <a:sym typeface="Play"/>
              </a:rPr>
            </a:br>
            <a:br>
              <a:rPr lang="pl-PL" sz="1300">
                <a:latin typeface="Play"/>
                <a:ea typeface="Play"/>
                <a:cs typeface="Play"/>
                <a:sym typeface="Play"/>
              </a:rPr>
            </a:br>
            <a:r>
              <a:rPr lang="pl-PL" sz="1300">
                <a:latin typeface="Play"/>
                <a:ea typeface="Play"/>
                <a:cs typeface="Play"/>
                <a:sym typeface="Play"/>
              </a:rPr>
              <a:t>Czas trwania: {{offer.hours}}</a:t>
            </a:r>
            <a:r>
              <a:rPr lang="pl-PL" sz="1300"/>
              <a:t> godzin zegarowych</a:t>
            </a:r>
            <a:br>
              <a:rPr lang="pl-PL" sz="1300"/>
            </a:br>
            <a:r>
              <a:rPr lang="pl-PL" sz="1300">
                <a:solidFill>
                  <a:srgbClr val="34D399"/>
                </a:solidFill>
                <a:latin typeface="Play"/>
                <a:ea typeface="Play"/>
                <a:cs typeface="Play"/>
                <a:sym typeface="Play"/>
              </a:rPr>
              <a:t>Koszt:  </a:t>
            </a:r>
            <a:r>
              <a:rPr lang="pl-PL" sz="1300">
                <a:solidFill>
                  <a:srgbClr val="34D399"/>
                </a:solidFill>
              </a:rPr>
              <a:t>{{offer.price}}</a:t>
            </a:r>
            <a:endParaRPr sz="1300"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41" name="Google Shape;641;p4"/>
          <p:cNvSpPr txBox="1"/>
          <p:nvPr>
            <p:ph idx="2" type="body"/>
          </p:nvPr>
        </p:nvSpPr>
        <p:spPr>
          <a:xfrm>
            <a:off x="528304" y="317740"/>
            <a:ext cx="9064201" cy="624187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00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l-PL">
                <a:solidFill>
                  <a:schemeClr val="accent3"/>
                </a:solidFill>
              </a:rPr>
              <a:t>NASZA REKOMENDACJA</a:t>
            </a:r>
            <a:endParaRPr b="1" sz="2500">
              <a:solidFill>
                <a:schemeClr val="accent3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F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5"/>
          <p:cNvSpPr txBox="1"/>
          <p:nvPr/>
        </p:nvSpPr>
        <p:spPr>
          <a:xfrm>
            <a:off x="599381" y="244807"/>
            <a:ext cx="5398007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2B304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178" lvl="0" marL="228588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00" u="none" cap="none" strike="noStrike">
              <a:solidFill>
                <a:srgbClr val="2B304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7" name="Google Shape;647;p5"/>
          <p:cNvSpPr txBox="1"/>
          <p:nvPr/>
        </p:nvSpPr>
        <p:spPr>
          <a:xfrm>
            <a:off x="455416" y="244807"/>
            <a:ext cx="4511031" cy="9385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34D399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descr="Obraz zawierający sztuka, kreskówka&#10;&#10;Zawartość wygenerowana przez sztuczną inteligencję może być niepoprawna." id="648" name="Google Shape;6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5904" y="1290933"/>
            <a:ext cx="3669532" cy="2603101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5"/>
          <p:cNvSpPr txBox="1"/>
          <p:nvPr>
            <p:ph idx="1" type="body"/>
          </p:nvPr>
        </p:nvSpPr>
        <p:spPr>
          <a:xfrm>
            <a:off x="599382" y="937085"/>
            <a:ext cx="5741012" cy="3826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b="1" lang="pl-PL">
                <a:latin typeface="Play"/>
                <a:ea typeface="Play"/>
                <a:cs typeface="Play"/>
                <a:sym typeface="Play"/>
              </a:rPr>
              <a:t>1. Płynność komunikacji w czasie rzeczywistym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pl-PL">
                <a:latin typeface="Play"/>
                <a:ea typeface="Play"/>
                <a:cs typeface="Play"/>
                <a:sym typeface="Play"/>
              </a:rPr>
              <a:t>Popracujesz nad zwiększeniem automatyzmu w mówieniu po angielsku, tak aby wypowiedzi były płynne i niewymagające nadmiernego zastanawiania się nad formą w trakcie rozmowy. Zmniejszysz momenty zatrzymania wynikające z poszukiwania słów lub „układania zdań w głowie”, co pozwoli Ci reagować szybciej i bardziej swobodnie w trakcie spotkań.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pl-PL">
                <a:latin typeface="Play"/>
                <a:ea typeface="Play"/>
                <a:cs typeface="Play"/>
                <a:sym typeface="Play"/>
              </a:rPr>
              <a:t>2. Struktura i organizacja wypowiedzi</a:t>
            </a:r>
            <a:endParaRPr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pl-PL">
                <a:latin typeface="Play"/>
                <a:ea typeface="Play"/>
                <a:cs typeface="Play"/>
                <a:sym typeface="Play"/>
              </a:rPr>
              <a:t>Udoskonalisz sposób budowania wypowiedzi tak, aby były logiczne, uporządkowane i łatwe do śledzenia dla rozmówców. Popracujesz nad przechodzeniem między myślami, stosowaniem linking words oraz tworzeniem spójnego toku wypowiedzi, który nie jest bezpośrednim tłumaczeniem z języka polskiego, ale naturalnym angielskim dyskursem biznesowym.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8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650" name="Google Shape;650;p5"/>
          <p:cNvSpPr txBox="1"/>
          <p:nvPr>
            <p:ph idx="2" type="body"/>
          </p:nvPr>
        </p:nvSpPr>
        <p:spPr>
          <a:xfrm>
            <a:off x="579420" y="312660"/>
            <a:ext cx="8145480" cy="624187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00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l-PL">
                <a:solidFill>
                  <a:srgbClr val="34D399"/>
                </a:solidFill>
                <a:latin typeface="Play"/>
                <a:ea typeface="Play"/>
                <a:cs typeface="Play"/>
                <a:sym typeface="Play"/>
              </a:rPr>
              <a:t>ETAP 1: Business English 60h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F"/>
        </a:solidFill>
      </p:bgPr>
    </p:bg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6"/>
          <p:cNvSpPr txBox="1"/>
          <p:nvPr/>
        </p:nvSpPr>
        <p:spPr>
          <a:xfrm>
            <a:off x="599381" y="244807"/>
            <a:ext cx="5398007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2B304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178" lvl="0" marL="228588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00" u="none" cap="none" strike="noStrike">
              <a:solidFill>
                <a:srgbClr val="2B304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6" name="Google Shape;656;p6"/>
          <p:cNvSpPr txBox="1"/>
          <p:nvPr/>
        </p:nvSpPr>
        <p:spPr>
          <a:xfrm>
            <a:off x="455416" y="244807"/>
            <a:ext cx="4511031" cy="9385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34D399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descr="Obraz zawierający sztuka, kreskówka&#10;&#10;Zawartość wygenerowana przez sztuczną inteligencję może być niepoprawna." id="657" name="Google Shape;65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1365" y="1290933"/>
            <a:ext cx="3054071" cy="2170813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6"/>
          <p:cNvSpPr txBox="1"/>
          <p:nvPr>
            <p:ph idx="1" type="body"/>
          </p:nvPr>
        </p:nvSpPr>
        <p:spPr>
          <a:xfrm>
            <a:off x="592055" y="1250898"/>
            <a:ext cx="6217261" cy="35709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b="1" lang="pl-PL">
                <a:latin typeface="Play"/>
                <a:ea typeface="Play"/>
                <a:cs typeface="Play"/>
                <a:sym typeface="Play"/>
              </a:rPr>
              <a:t>3.  Argumentowanie i komunikacja wpływu w środowisku międzynarodowym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pl-PL">
                <a:latin typeface="Play"/>
                <a:ea typeface="Play"/>
                <a:cs typeface="Play"/>
                <a:sym typeface="Play"/>
              </a:rPr>
              <a:t>Udoskonalisz sposób przedstawiania rekomendacji działań, uzasadniania decyzji oraz proponowania rozwiązań w rozmowach z ekspertami i stakeholderami z różnych krajów. Rozwiniesz język funkcyjny potrzebny do argumentowania, doprecyzowywania w profesjonalny i naturalny sposób.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pl-PL">
                <a:latin typeface="Play"/>
                <a:ea typeface="Play"/>
                <a:cs typeface="Play"/>
                <a:sym typeface="Play"/>
              </a:rPr>
              <a:t>4. Wpływ i wiarygodność w komunikacji zawodowej</a:t>
            </a:r>
            <a:endParaRPr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pl-PL">
                <a:latin typeface="Play"/>
                <a:ea typeface="Play"/>
                <a:cs typeface="Play"/>
                <a:sym typeface="Play"/>
              </a:rPr>
              <a:t>Udoskonalisz sposób formułowania wypowiedzi tak, aby wzmacniały Twój profesjonalny wizerunek w środowisku międzynarodowym. Popracujesz nad precyzją argumentacji, doborem bardziej eksperckiego języka oraz umiejętnością wyrażania opinii w sposób pewny, rzeczowy i przekonujący podczas spotkań projektowych i dyskusji zespołowych.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800"/>
              </a:spcAft>
              <a:buSzPts val="1800"/>
              <a:buNone/>
            </a:pPr>
            <a:r>
              <a:t/>
            </a:r>
            <a:endParaRPr b="1"/>
          </a:p>
        </p:txBody>
      </p:sp>
      <p:sp>
        <p:nvSpPr>
          <p:cNvPr id="659" name="Google Shape;659;p6"/>
          <p:cNvSpPr txBox="1"/>
          <p:nvPr>
            <p:ph idx="2" type="body"/>
          </p:nvPr>
        </p:nvSpPr>
        <p:spPr>
          <a:xfrm>
            <a:off x="579420" y="312660"/>
            <a:ext cx="8145480" cy="624187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00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l-PL">
                <a:solidFill>
                  <a:srgbClr val="34D399"/>
                </a:solidFill>
                <a:latin typeface="Play"/>
                <a:ea typeface="Play"/>
                <a:cs typeface="Play"/>
                <a:sym typeface="Play"/>
              </a:rPr>
              <a:t>ETAP 1: Business English 60h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F"/>
        </a:solidFill>
      </p:bgPr>
    </p:bg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braz zawierający Ludzka twarz, uśmiech, ubrania, osoba&#10;&#10;Zawartość wygenerowana przez sztuczną inteligencję może być niepoprawna." id="664" name="Google Shape;66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3629" y="1240843"/>
            <a:ext cx="2882442" cy="2047805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7"/>
          <p:cNvSpPr txBox="1"/>
          <p:nvPr>
            <p:ph idx="1" type="body"/>
          </p:nvPr>
        </p:nvSpPr>
        <p:spPr>
          <a:xfrm>
            <a:off x="484170" y="834051"/>
            <a:ext cx="6480510" cy="441346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pl-PL" sz="1500">
                <a:latin typeface="Play"/>
                <a:ea typeface="Play"/>
                <a:cs typeface="Play"/>
                <a:sym typeface="Play"/>
              </a:rPr>
              <a:t>CEL WARSZTATU: Skuteczna facylitacja spotkań warsztatowych</a:t>
            </a:r>
            <a:endParaRPr sz="1500"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pl-PL">
                <a:latin typeface="Play"/>
                <a:ea typeface="Play"/>
                <a:cs typeface="Play"/>
                <a:sym typeface="Play"/>
              </a:rPr>
              <a:t>Rozwiniesz kompetencje związane z prowadzeniem i moderowaniem warsztatów po angielsku: strukturyzowanie dyskusji, zarządzanie przepływem rozmowy, aktywne angażowanie uczestników, podsumowywanie ustaleń w czasie rzeczywistym. Skupisz się na języku umożliwiającym płynne prowadzenie warsztatów i spotkań roboczych, utrzymywanie jasnej agendy oraz reagowanie na zmieniający się przebieg dyskusji w sposób profesjonalny i uporządkowany.</a:t>
            </a:r>
            <a:br>
              <a:rPr lang="pl-PL">
                <a:latin typeface="Play"/>
                <a:ea typeface="Play"/>
                <a:cs typeface="Play"/>
                <a:sym typeface="Play"/>
              </a:rPr>
            </a:br>
            <a:br>
              <a:rPr lang="pl-PL">
                <a:latin typeface="Play"/>
                <a:ea typeface="Play"/>
                <a:cs typeface="Play"/>
                <a:sym typeface="Play"/>
              </a:rPr>
            </a:br>
            <a:r>
              <a:rPr lang="pl-PL" sz="1500">
                <a:latin typeface="Play"/>
                <a:ea typeface="Play"/>
                <a:cs typeface="Play"/>
                <a:sym typeface="Play"/>
              </a:rPr>
              <a:t>EFEKT: zyskasz umiejętność pewnego siebie moderowania rozmowy i reagowania na bieżąco w dynamicznych sytuacjach - wszystko w języku angielskim.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pl-PL">
                <a:latin typeface="Play"/>
                <a:ea typeface="Play"/>
                <a:cs typeface="Play"/>
                <a:sym typeface="Play"/>
              </a:rPr>
              <a:t>Program (do ewentualnej dalszej modyfikacji pod Twoje potrzeby na pierwszej sesji z trenerem) załączam do emaila.</a:t>
            </a:r>
            <a:endParaRPr b="1" sz="1350">
              <a:solidFill>
                <a:schemeClr val="accent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800"/>
              </a:spcAft>
              <a:buSzPts val="1800"/>
              <a:buNone/>
            </a:pPr>
            <a:br>
              <a:rPr lang="pl-PL" sz="1350">
                <a:latin typeface="Play"/>
                <a:ea typeface="Play"/>
                <a:cs typeface="Play"/>
                <a:sym typeface="Play"/>
              </a:rPr>
            </a:br>
            <a:endParaRPr sz="1350"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66" name="Google Shape;666;p7"/>
          <p:cNvSpPr txBox="1"/>
          <p:nvPr>
            <p:ph idx="2" type="body"/>
          </p:nvPr>
        </p:nvSpPr>
        <p:spPr>
          <a:xfrm>
            <a:off x="484170" y="282180"/>
            <a:ext cx="8145480" cy="624187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00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l-PL">
                <a:solidFill>
                  <a:srgbClr val="34D399"/>
                </a:solidFill>
                <a:latin typeface="Play"/>
                <a:ea typeface="Play"/>
                <a:cs typeface="Play"/>
                <a:sym typeface="Play"/>
              </a:rPr>
              <a:t>ETAP 2: Warsztat Facilitaing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8"/>
          <p:cNvSpPr txBox="1"/>
          <p:nvPr/>
        </p:nvSpPr>
        <p:spPr>
          <a:xfrm>
            <a:off x="361458" y="248963"/>
            <a:ext cx="8143843" cy="5546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pl-PL" sz="2500" u="none" cap="none" strike="noStrike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rPr>
              <a:t>Rozwiązanie dobieramy do celów </a:t>
            </a:r>
            <a:r>
              <a:rPr b="0" i="0" lang="pl-PL" sz="25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​</a:t>
            </a:r>
            <a:endParaRPr b="1" i="0" sz="2500" u="none" cap="none" strike="noStrike">
              <a:solidFill>
                <a:srgbClr val="14151F"/>
              </a:solidFill>
              <a:latin typeface="Play"/>
              <a:ea typeface="Play"/>
              <a:cs typeface="Play"/>
              <a:sym typeface="Play"/>
            </a:endParaRPr>
          </a:p>
        </p:txBody>
      </p:sp>
      <p:graphicFrame>
        <p:nvGraphicFramePr>
          <p:cNvPr id="672" name="Google Shape;672;p8"/>
          <p:cNvGraphicFramePr/>
          <p:nvPr/>
        </p:nvGraphicFramePr>
        <p:xfrm>
          <a:off x="497495" y="10550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{51BB26F6-610B-4FC4-9972-DB1B922C5485}</a:tableStyleId>
              </a:tblPr>
              <a:tblGrid>
                <a:gridCol w="708575"/>
                <a:gridCol w="2071200"/>
                <a:gridCol w="2071200"/>
              </a:tblGrid>
              <a:tr h="5995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pl-PL" sz="10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h=60 min 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51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Play"/>
                        <a:buNone/>
                      </a:pPr>
                      <a:r>
                        <a:rPr b="1" i="0" lang="pl-PL" sz="14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BUSINESS ENGLISH/ENGLISH FOR IT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51F"/>
                    </a:solidFill>
                  </a:tcPr>
                </a:tc>
                <a:tc hMerge="1"/>
              </a:tr>
              <a:tr h="3896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pl-PL" sz="14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Indywidualnie (1-1)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5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Play"/>
                        <a:buNone/>
                      </a:pPr>
                      <a:r>
                        <a:rPr b="1" lang="pl-PL" sz="14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W parach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51F"/>
                    </a:solidFill>
                  </a:tcPr>
                </a:tc>
              </a:tr>
              <a:tr h="428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51F"/>
                        </a:buClr>
                        <a:buSzPts val="1400"/>
                        <a:buFont typeface="Play"/>
                        <a:buNone/>
                      </a:pPr>
                      <a:r>
                        <a:rPr lang="pl-PL" sz="1400" u="none" cap="none" strike="noStrike">
                          <a:solidFill>
                            <a:srgbClr val="14151F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15 h</a:t>
                      </a:r>
                      <a:endParaRPr sz="1400" u="none" cap="none" strike="noStrike">
                        <a:solidFill>
                          <a:srgbClr val="14151F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lang="pl-PL" sz="1400" u="none" cap="none" strike="noStrike">
                          <a:solidFill>
                            <a:schemeClr val="dk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3 750 PLN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pl-PL" sz="1400" u="none" cap="none" strike="noStrike">
                          <a:solidFill>
                            <a:schemeClr val="dk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4 500 PLN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51F"/>
                        </a:buClr>
                        <a:buSzPts val="1400"/>
                        <a:buFont typeface="Play"/>
                        <a:buNone/>
                      </a:pPr>
                      <a:r>
                        <a:rPr lang="pl-PL" sz="1400" u="none" cap="none" strike="noStrike">
                          <a:solidFill>
                            <a:srgbClr val="14151F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30 h</a:t>
                      </a:r>
                      <a:endParaRPr sz="1400" u="none" cap="none" strike="noStrike">
                        <a:solidFill>
                          <a:srgbClr val="14151F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lang="pl-PL" sz="1400" u="none" cap="none" strike="noStrike">
                          <a:solidFill>
                            <a:schemeClr val="dk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6 375 PLN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pl-PL" sz="1400" u="none" cap="none" strike="noStrike">
                          <a:solidFill>
                            <a:schemeClr val="dk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7 200 PLN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51F"/>
                        </a:buClr>
                        <a:buSzPts val="1400"/>
                        <a:buFont typeface="Play"/>
                        <a:buNone/>
                      </a:pPr>
                      <a:r>
                        <a:rPr lang="pl-PL" sz="1400" u="none" cap="none" strike="noStrike">
                          <a:solidFill>
                            <a:srgbClr val="14151F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60 h</a:t>
                      </a:r>
                      <a:endParaRPr sz="1400" u="none" cap="none" strike="noStrike">
                        <a:solidFill>
                          <a:srgbClr val="14151F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lang="pl-PL" sz="1400" u="none" cap="none" strike="noStrike">
                          <a:solidFill>
                            <a:schemeClr val="dk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11 250 PLN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pl-PL" sz="1400" u="none" cap="none" strike="noStrike">
                          <a:solidFill>
                            <a:schemeClr val="dk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13 500 PLN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51F"/>
                        </a:buClr>
                        <a:buSzPts val="1400"/>
                        <a:buFont typeface="Play"/>
                        <a:buNone/>
                      </a:pPr>
                      <a:r>
                        <a:rPr lang="pl-PL" sz="1400" u="none" cap="none" strike="noStrike">
                          <a:solidFill>
                            <a:srgbClr val="14151F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120 h</a:t>
                      </a:r>
                      <a:endParaRPr sz="1400" u="none" cap="none" strike="noStrike">
                        <a:solidFill>
                          <a:srgbClr val="14151F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lang="pl-PL" sz="1400" u="none" cap="none" strike="noStrike">
                          <a:solidFill>
                            <a:schemeClr val="dk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21 000 PLN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pl-PL" sz="1400" u="none" cap="none" strike="noStrike">
                          <a:solidFill>
                            <a:schemeClr val="dk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25 800 PLN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73" name="Google Shape;673;p8"/>
          <p:cNvGraphicFramePr/>
          <p:nvPr/>
        </p:nvGraphicFramePr>
        <p:xfrm>
          <a:off x="497495" y="37047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{51BB26F6-610B-4FC4-9972-DB1B922C5485}</a:tableStyleId>
              </a:tblPr>
              <a:tblGrid>
                <a:gridCol w="708825"/>
                <a:gridCol w="2071975"/>
                <a:gridCol w="2071975"/>
              </a:tblGrid>
              <a:tr h="251975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l-PL" sz="14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INTENSYWNE WARSZTATY (5-15h)</a:t>
                      </a:r>
                      <a:endParaRPr/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CCCF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F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51F"/>
                    </a:solidFill>
                  </a:tcPr>
                </a:tc>
                <a:tc hMerge="1"/>
                <a:tc hMerge="1"/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l-PL" sz="1400" u="none" cap="none" strike="noStrike">
                          <a:solidFill>
                            <a:schemeClr val="dk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15h</a:t>
                      </a:r>
                      <a:endParaRPr/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CCCF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F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F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l-PL" sz="1400" u="none" cap="none" strike="noStrike">
                          <a:solidFill>
                            <a:schemeClr val="dk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5600 PLN (1-1)​</a:t>
                      </a:r>
                      <a:endParaRPr/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CCCF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F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F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400" u="none" cap="none" strike="noStrike">
                          <a:solidFill>
                            <a:srgbClr val="14151F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7800 PLN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CCCF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F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F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74" name="Google Shape;674;p8"/>
          <p:cNvSpPr txBox="1"/>
          <p:nvPr/>
        </p:nvSpPr>
        <p:spPr>
          <a:xfrm>
            <a:off x="5501250" y="1055057"/>
            <a:ext cx="3286665" cy="3200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-PL" sz="1300" u="none" cap="none" strike="noStrike">
                <a:solidFill>
                  <a:srgbClr val="4D76BC"/>
                </a:solidFill>
                <a:latin typeface="Play"/>
                <a:ea typeface="Play"/>
                <a:cs typeface="Play"/>
                <a:sym typeface="Play"/>
              </a:rPr>
              <a:t>Cena szkolenia obejmuje:</a:t>
            </a:r>
            <a:br>
              <a:rPr b="1" i="0" lang="pl-PL" sz="1300" u="none" cap="none" strike="noStrike">
                <a:solidFill>
                  <a:srgbClr val="4D76BC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1" i="0" lang="pl-PL" sz="1300" u="none" cap="none" strike="noStrike">
                <a:solidFill>
                  <a:srgbClr val="4D76BC"/>
                </a:solidFill>
                <a:latin typeface="Play"/>
                <a:ea typeface="Play"/>
                <a:cs typeface="Play"/>
                <a:sym typeface="Play"/>
              </a:rPr>
              <a:t>konsultację z metodykiem,</a:t>
            </a:r>
            <a:r>
              <a:rPr b="1" i="0" lang="pl-PL" sz="1200" u="none" cap="none" strike="noStrike">
                <a:solidFill>
                  <a:srgbClr val="4D76BC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b="0" i="0" lang="pl-PL" sz="1300" u="none" cap="none" strike="noStrike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rPr>
              <a:t>przygotowanie indywidualnego planu, udział w szkoleniu, nadzór metodyczny oraz dożywotni dostęp do materiałów.</a:t>
            </a:r>
            <a:endParaRPr b="0" i="0" sz="13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pl-PL" sz="1300" u="none" cap="none" strike="noStrike">
                <a:solidFill>
                  <a:srgbClr val="4D76BC"/>
                </a:solidFill>
                <a:latin typeface="Play"/>
                <a:ea typeface="Play"/>
                <a:cs typeface="Play"/>
                <a:sym typeface="Play"/>
              </a:rPr>
              <a:t>Warunki płatności: </a:t>
            </a:r>
            <a:r>
              <a:rPr b="0" i="0" lang="pl-PL" sz="1300" u="none" cap="none" strike="noStrike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rPr>
              <a:t>rozliczenie jednorazowe – z rabatem za szybką płatność – lub w wygodnych ratach.</a:t>
            </a:r>
            <a:endParaRPr b="0" i="0" sz="13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l-PL" sz="1300" u="none" cap="none" strike="noStrike">
                <a:solidFill>
                  <a:srgbClr val="00B050"/>
                </a:solidFill>
                <a:latin typeface="Play"/>
                <a:ea typeface="Play"/>
                <a:cs typeface="Play"/>
                <a:sym typeface="Play"/>
              </a:rPr>
              <a:t>To już wszystkie koszty. </a:t>
            </a:r>
            <a:br>
              <a:rPr b="0" i="0" lang="pl-PL" sz="1300" u="none" cap="none" strike="noStrike">
                <a:solidFill>
                  <a:srgbClr val="00B050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0" i="0" lang="pl-PL" sz="1300" u="none" cap="none" strike="noStrike">
                <a:solidFill>
                  <a:srgbClr val="00B050"/>
                </a:solidFill>
                <a:latin typeface="Play"/>
                <a:ea typeface="Play"/>
                <a:cs typeface="Play"/>
                <a:sym typeface="Play"/>
              </a:rPr>
              <a:t>Nie planujemy dodatkowych lub ukrytych opłat. </a:t>
            </a:r>
            <a:br>
              <a:rPr b="0" i="0" lang="pl-PL" sz="1300" u="none" cap="none" strike="noStrike">
                <a:solidFill>
                  <a:srgbClr val="00B050"/>
                </a:solidFill>
                <a:latin typeface="Play"/>
                <a:ea typeface="Play"/>
                <a:cs typeface="Play"/>
                <a:sym typeface="Play"/>
              </a:rPr>
            </a:br>
            <a:br>
              <a:rPr b="0" i="0" lang="pl-PL" sz="1300" u="none" cap="none" strike="noStrike">
                <a:solidFill>
                  <a:srgbClr val="00B050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1" i="0" lang="pl-PL" sz="1300" u="none" cap="none" strike="noStrike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rPr>
              <a:t>Szkolenia językowe są zwolnione ​</a:t>
            </a:r>
            <a:br>
              <a:rPr b="1" i="0" lang="pl-PL" sz="1300" u="none" cap="none" strike="noStrike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1" i="0" lang="pl-PL" sz="1300" u="none" cap="none" strike="noStrike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rPr>
              <a:t>z podatku VAT.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F"/>
        </a:solid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9"/>
          <p:cNvSpPr txBox="1"/>
          <p:nvPr>
            <p:ph idx="1" type="body"/>
          </p:nvPr>
        </p:nvSpPr>
        <p:spPr>
          <a:xfrm>
            <a:off x="649760" y="871926"/>
            <a:ext cx="8145780" cy="30714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b="1" lang="pl-PL">
                <a:latin typeface="Play"/>
                <a:ea typeface="Play"/>
                <a:cs typeface="Play"/>
                <a:sym typeface="Play"/>
              </a:rPr>
              <a:t>ENGLISH + BUSINESS SKILLS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pl-PL">
                <a:solidFill>
                  <a:srgbClr val="2B3046"/>
                </a:solidFill>
                <a:latin typeface="Play"/>
                <a:ea typeface="Play"/>
                <a:cs typeface="Play"/>
                <a:sym typeface="Play"/>
              </a:rPr>
              <a:t>🎯 </a:t>
            </a:r>
            <a:r>
              <a:rPr lang="pl-PL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Presenting &amp; Pitching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pl-PL">
                <a:solidFill>
                  <a:srgbClr val="2B3046"/>
                </a:solidFill>
                <a:latin typeface="Play"/>
                <a:ea typeface="Play"/>
                <a:cs typeface="Play"/>
                <a:sym typeface="Play"/>
              </a:rPr>
              <a:t>🎯 </a:t>
            </a:r>
            <a:r>
              <a:rPr lang="pl-PL">
                <a:latin typeface="Play"/>
                <a:ea typeface="Play"/>
                <a:cs typeface="Play"/>
                <a:sym typeface="Play"/>
              </a:rPr>
              <a:t>Facilitating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pl-PL">
                <a:solidFill>
                  <a:srgbClr val="2B3046"/>
                </a:solidFill>
                <a:latin typeface="Play"/>
                <a:ea typeface="Play"/>
                <a:cs typeface="Play"/>
                <a:sym typeface="Play"/>
              </a:rPr>
              <a:t>🎯 </a:t>
            </a:r>
            <a:r>
              <a:rPr lang="pl-PL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Running Client Workshops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pl-PL">
                <a:solidFill>
                  <a:srgbClr val="2B3046"/>
                </a:solidFill>
                <a:latin typeface="Play"/>
                <a:ea typeface="Play"/>
                <a:cs typeface="Play"/>
                <a:sym typeface="Play"/>
              </a:rPr>
              <a:t>🎯 </a:t>
            </a:r>
            <a:r>
              <a:rPr lang="pl-PL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Dynamic Discussion</a:t>
            </a:r>
            <a:endParaRPr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pl-PL">
                <a:solidFill>
                  <a:srgbClr val="2B3046"/>
                </a:solidFill>
                <a:latin typeface="Play"/>
                <a:ea typeface="Play"/>
                <a:cs typeface="Play"/>
                <a:sym typeface="Play"/>
              </a:rPr>
              <a:t>🎯 </a:t>
            </a:r>
            <a:r>
              <a:rPr lang="pl-PL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Networking at Events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pl-PL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🎯 Negotiating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pl-PL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🎯 Writing Emails &amp; Offers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pl-PL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🎯 Client Interview</a:t>
            </a:r>
            <a:endParaRPr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u="sng">
              <a:solidFill>
                <a:srgbClr val="00B0F0"/>
              </a:solidFill>
              <a:latin typeface="Play"/>
              <a:ea typeface="Play"/>
              <a:cs typeface="Play"/>
              <a:sym typeface="Play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800"/>
              </a:spcAft>
              <a:buSzPts val="1800"/>
              <a:buNone/>
            </a:pPr>
            <a:r>
              <a:rPr b="1" lang="pl-PL" u="sng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Więcej o warsztatach</a:t>
            </a:r>
            <a:endParaRPr b="1" u="sng">
              <a:solidFill>
                <a:schemeClr val="accent6"/>
              </a:solidFill>
              <a:latin typeface="Play"/>
              <a:ea typeface="Play"/>
              <a:cs typeface="Play"/>
              <a:sym typeface="Play"/>
              <a:hlinkClick r:id="rId5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sp>
        <p:nvSpPr>
          <p:cNvPr id="680" name="Google Shape;680;p9"/>
          <p:cNvSpPr txBox="1"/>
          <p:nvPr/>
        </p:nvSpPr>
        <p:spPr>
          <a:xfrm>
            <a:off x="438449" y="280526"/>
            <a:ext cx="7359830" cy="6338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81" name="Google Shape;681;p9"/>
          <p:cNvSpPr txBox="1"/>
          <p:nvPr/>
        </p:nvSpPr>
        <p:spPr>
          <a:xfrm>
            <a:off x="4327200" y="1047124"/>
            <a:ext cx="4468340" cy="2867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-PL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CULTURE-SPECIFIC COMMUNICATION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pl-PL" sz="1400" u="none" cap="none" strike="noStrike">
                <a:solidFill>
                  <a:srgbClr val="2B3046"/>
                </a:solidFill>
                <a:latin typeface="Play"/>
                <a:ea typeface="Play"/>
                <a:cs typeface="Play"/>
                <a:sym typeface="Play"/>
              </a:rPr>
              <a:t>🎯</a:t>
            </a:r>
            <a:r>
              <a:rPr b="0" i="0" lang="pl-PL" sz="1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 Meetings with Americans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l-PL" sz="1400" u="none" cap="none" strike="noStrike">
                <a:solidFill>
                  <a:srgbClr val="2B3046"/>
                </a:solidFill>
                <a:latin typeface="Play"/>
                <a:ea typeface="Play"/>
                <a:cs typeface="Play"/>
                <a:sym typeface="Play"/>
              </a:rPr>
              <a:t>🎯 </a:t>
            </a:r>
            <a:r>
              <a:rPr b="0" i="0" lang="pl-PL" sz="1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Meetings with the British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l-PL" sz="1400" u="none" cap="none" strike="noStrike">
                <a:solidFill>
                  <a:srgbClr val="2B3046"/>
                </a:solidFill>
                <a:latin typeface="Play"/>
                <a:ea typeface="Play"/>
                <a:cs typeface="Play"/>
                <a:sym typeface="Play"/>
              </a:rPr>
              <a:t>🎯</a:t>
            </a:r>
            <a:r>
              <a:rPr b="0" i="0" lang="pl-PL" sz="1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 Meetings on the Arabian Peninsula</a:t>
            </a:r>
            <a:endParaRPr b="0" i="0" sz="14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i="0" lang="pl-PL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INNE SZKOLENIA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pl-PL" sz="1400" u="none" cap="none" strike="noStrike">
                <a:solidFill>
                  <a:srgbClr val="2B3046"/>
                </a:solidFill>
                <a:latin typeface="Play"/>
                <a:ea typeface="Play"/>
                <a:cs typeface="Play"/>
                <a:sym typeface="Play"/>
              </a:rPr>
              <a:t>🎯</a:t>
            </a:r>
            <a:r>
              <a:rPr b="0" i="0" lang="pl-PL" sz="1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 Current Affairs in Business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l-PL" sz="1400" u="none" cap="none" strike="noStrike">
                <a:solidFill>
                  <a:srgbClr val="2B3046"/>
                </a:solidFill>
                <a:latin typeface="Play"/>
                <a:ea typeface="Play"/>
                <a:cs typeface="Play"/>
                <a:sym typeface="Play"/>
              </a:rPr>
              <a:t>🎯 </a:t>
            </a:r>
            <a:r>
              <a:rPr b="0" i="0" lang="pl-PL" sz="1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Job Interview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  <a:hlinkClick r:id="rId6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sp>
        <p:nvSpPr>
          <p:cNvPr id="682" name="Google Shape;682;p9"/>
          <p:cNvSpPr txBox="1"/>
          <p:nvPr>
            <p:ph idx="2" type="body"/>
          </p:nvPr>
        </p:nvSpPr>
        <p:spPr>
          <a:xfrm>
            <a:off x="579420" y="312660"/>
            <a:ext cx="8145480" cy="482609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00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l-PL" sz="1700">
                <a:latin typeface="Play"/>
                <a:ea typeface="Play"/>
                <a:cs typeface="Play"/>
                <a:sym typeface="Play"/>
              </a:rPr>
              <a:t>Intensywne warsztaty łączące umiejętności biznesowe i rozwój angielskiego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F"/>
        </a:solidFill>
      </p:bgPr>
    </p:bg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0"/>
          <p:cNvSpPr txBox="1"/>
          <p:nvPr>
            <p:ph idx="2" type="body"/>
          </p:nvPr>
        </p:nvSpPr>
        <p:spPr>
          <a:xfrm>
            <a:off x="579420" y="312660"/>
            <a:ext cx="8145480" cy="624187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0000">
            <a:sp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l-PL">
                <a:solidFill>
                  <a:srgbClr val="34D399"/>
                </a:solidFill>
                <a:latin typeface="Play"/>
                <a:ea typeface="Play"/>
                <a:cs typeface="Play"/>
                <a:sym typeface="Play"/>
              </a:rPr>
              <a:t>Czym warsztaty różnią się od szkoleń?</a:t>
            </a:r>
            <a:endParaRPr/>
          </a:p>
        </p:txBody>
      </p:sp>
      <p:graphicFrame>
        <p:nvGraphicFramePr>
          <p:cNvPr id="688" name="Google Shape;688;p10"/>
          <p:cNvGraphicFramePr/>
          <p:nvPr/>
        </p:nvGraphicFramePr>
        <p:xfrm>
          <a:off x="647804" y="11276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{51BB26F6-610B-4FC4-9972-DB1B922C5485}</a:tableStyleId>
              </a:tblPr>
              <a:tblGrid>
                <a:gridCol w="4005775"/>
                <a:gridCol w="4002925"/>
              </a:tblGrid>
              <a:tr h="44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pl-PL" sz="14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Szkolenia Business English/English for IT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5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pl-PL" sz="14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Warsztat English + Business Skills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51F"/>
                    </a:solidFill>
                  </a:tcPr>
                </a:tc>
              </a:tr>
              <a:tr h="2368525"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Noto Sans Symbols"/>
                        <a:buChar char="§"/>
                      </a:pPr>
                      <a:r>
                        <a:rPr b="0" i="0" lang="pl-PL" sz="1400" u="none" cap="none" strike="noStrike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Fundament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Noto Sans Symbols"/>
                        <a:buChar char="§"/>
                      </a:pPr>
                      <a:r>
                        <a:rPr b="0" i="0" lang="pl-PL" sz="1400" u="none" cap="none" strike="noStrike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Budowanie i wzmacnianie bazy językowej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Noto Sans Symbols"/>
                        <a:buChar char="§"/>
                      </a:pPr>
                      <a:r>
                        <a:rPr b="0" i="0" lang="pl-PL" sz="14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Szeroki, </a:t>
                      </a:r>
                      <a:r>
                        <a:rPr b="1" i="0" lang="pl-PL" sz="14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bardziej przekrojowy zakres</a:t>
                      </a:r>
                      <a:r>
                        <a:rPr b="0" i="0" lang="pl-PL" sz="14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: </a:t>
                      </a:r>
                      <a:br>
                        <a:rPr b="0" i="0" lang="pl-PL" sz="14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</a:br>
                      <a:r>
                        <a:rPr b="0" i="0" lang="pl-PL" sz="14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różne sytuacje, tematy, rejestry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Noto Sans Symbols"/>
                        <a:buChar char="§"/>
                      </a:pPr>
                      <a:r>
                        <a:rPr b="1" i="0" lang="pl-PL" sz="14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Feedback głównie językowy </a:t>
                      </a:r>
                      <a:br>
                        <a:rPr b="1" i="0" lang="pl-PL" sz="14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</a:br>
                      <a:r>
                        <a:rPr b="0" i="0" lang="pl-PL" sz="14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(precyzja, poprawność, dobór rejestru, płynność, język funkcyjny)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Noto Sans Symbols"/>
                        <a:buChar char="§"/>
                      </a:pPr>
                      <a:r>
                        <a:rPr b="0" i="0" lang="pl-PL" sz="14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Stabilny rozwój języka w czasie</a:t>
                      </a:r>
                      <a:endParaRPr/>
                    </a:p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Noto Sans Symbols"/>
                        <a:buChar char="▪"/>
                      </a:pPr>
                      <a:r>
                        <a:rPr b="0" i="0" lang="pl-PL" sz="14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Skupienie na jednej kompetencji komunikacyjnej naraz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Noto Sans Symbols"/>
                        <a:buChar char="▪"/>
                      </a:pPr>
                      <a:r>
                        <a:rPr b="0" i="0" lang="pl-PL" sz="14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Wąski, ale </a:t>
                      </a:r>
                      <a:r>
                        <a:rPr b="1" i="0" lang="pl-PL" sz="14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bardzo głęboki zakres</a:t>
                      </a:r>
                      <a:r>
                        <a:rPr b="0" i="0" lang="pl-PL" sz="14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: </a:t>
                      </a:r>
                      <a:br>
                        <a:rPr b="0" i="0" lang="pl-PL" sz="14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</a:br>
                      <a:r>
                        <a:rPr b="0" i="0" lang="pl-PL" sz="14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ćwiczymy jeden skill i rozpatrujemy </a:t>
                      </a:r>
                      <a:br>
                        <a:rPr b="0" i="0" lang="pl-PL" sz="14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</a:br>
                      <a:r>
                        <a:rPr b="0" i="0" lang="pl-PL" sz="14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go z różnych perspektyw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Noto Sans Symbols"/>
                        <a:buChar char="▪"/>
                      </a:pPr>
                      <a:r>
                        <a:rPr b="1" i="0" lang="pl-PL" sz="14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Feedback językowy + pozajęzykowy</a:t>
                      </a:r>
                      <a:r>
                        <a:rPr b="0" i="0" lang="pl-PL" sz="14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 (dopasowanie do odbiorcy, kontekstu </a:t>
                      </a:r>
                      <a:br>
                        <a:rPr b="0" i="0" lang="pl-PL" sz="14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</a:br>
                      <a:r>
                        <a:rPr b="0" i="0" lang="pl-PL" sz="1400" u="none" cap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i intencji, konsekwencje biznesowe wypowiedzi)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Noto Sans Symbols"/>
                        <a:buChar char="▪"/>
                      </a:pPr>
                      <a:r>
                        <a:rPr b="0" i="0" lang="pl-PL" sz="1400" u="none" cap="none" strike="noStrike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Szybsze przełożenie na spotkania, prezentacje, negocjacje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1"/>
          <p:cNvSpPr txBox="1"/>
          <p:nvPr/>
        </p:nvSpPr>
        <p:spPr>
          <a:xfrm>
            <a:off x="699125" y="350427"/>
            <a:ext cx="2945775" cy="4749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B3046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94" name="Google Shape;694;p11"/>
          <p:cNvSpPr txBox="1"/>
          <p:nvPr>
            <p:ph idx="2" type="body"/>
          </p:nvPr>
        </p:nvSpPr>
        <p:spPr>
          <a:xfrm>
            <a:off x="579420" y="245985"/>
            <a:ext cx="8145480" cy="624187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00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l-PL"/>
              <a:t>Procesowe podejście zapewnia sukces szkolenia</a:t>
            </a:r>
            <a:endParaRPr/>
          </a:p>
        </p:txBody>
      </p:sp>
      <p:sp>
        <p:nvSpPr>
          <p:cNvPr id="695" name="Google Shape;695;p11"/>
          <p:cNvSpPr txBox="1"/>
          <p:nvPr>
            <p:ph idx="1" type="body"/>
          </p:nvPr>
        </p:nvSpPr>
        <p:spPr>
          <a:xfrm>
            <a:off x="1563513" y="1516660"/>
            <a:ext cx="2241890" cy="62487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b="1" lang="pl-PL" sz="1600">
                <a:solidFill>
                  <a:srgbClr val="4D76BC"/>
                </a:solidFill>
              </a:rPr>
              <a:t>Odkrywanie potrzeb</a:t>
            </a:r>
            <a:endParaRPr/>
          </a:p>
        </p:txBody>
      </p:sp>
      <p:sp>
        <p:nvSpPr>
          <p:cNvPr id="696" name="Google Shape;696;p11"/>
          <p:cNvSpPr txBox="1"/>
          <p:nvPr/>
        </p:nvSpPr>
        <p:spPr>
          <a:xfrm>
            <a:off x="1949542" y="2251161"/>
            <a:ext cx="2511198" cy="62487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b="1" i="0" lang="pl-PL" sz="1600" u="none" cap="none" strike="noStrike">
                <a:solidFill>
                  <a:srgbClr val="4D76BC"/>
                </a:solidFill>
                <a:latin typeface="Play"/>
                <a:ea typeface="Play"/>
                <a:cs typeface="Play"/>
                <a:sym typeface="Play"/>
              </a:rPr>
              <a:t>Lekcja i rekomendacja</a:t>
            </a:r>
            <a:endParaRPr b="0" i="0" sz="1600" u="none" cap="none" strike="noStrike">
              <a:solidFill>
                <a:srgbClr val="4D76BC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97" name="Google Shape;697;p11"/>
          <p:cNvSpPr txBox="1"/>
          <p:nvPr/>
        </p:nvSpPr>
        <p:spPr>
          <a:xfrm>
            <a:off x="2440765" y="2944502"/>
            <a:ext cx="3209537" cy="62487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b="1" i="0" lang="pl-PL" sz="1600" u="none" cap="none" strike="noStrike">
                <a:solidFill>
                  <a:srgbClr val="4D76BC"/>
                </a:solidFill>
                <a:latin typeface="Play"/>
                <a:ea typeface="Play"/>
                <a:cs typeface="Play"/>
                <a:sym typeface="Play"/>
              </a:rPr>
              <a:t>Uzgodnienie warunków</a:t>
            </a:r>
            <a:endParaRPr b="0" i="0" sz="1600" u="none" cap="none" strike="noStrike">
              <a:solidFill>
                <a:srgbClr val="4D76BC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98" name="Google Shape;698;p11"/>
          <p:cNvSpPr txBox="1"/>
          <p:nvPr/>
        </p:nvSpPr>
        <p:spPr>
          <a:xfrm>
            <a:off x="5033042" y="1507883"/>
            <a:ext cx="2554645" cy="62487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b="1" i="0" lang="pl-PL" sz="1600" u="none" cap="none" strike="noStrike">
                <a:solidFill>
                  <a:srgbClr val="4D76BC"/>
                </a:solidFill>
                <a:latin typeface="Play"/>
                <a:ea typeface="Play"/>
                <a:cs typeface="Play"/>
                <a:sym typeface="Play"/>
              </a:rPr>
              <a:t>Szkolenie metodą LEAP</a:t>
            </a:r>
            <a:endParaRPr b="0" i="0" sz="1600" u="none" cap="none" strike="noStrike">
              <a:solidFill>
                <a:srgbClr val="4D76BC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99" name="Google Shape;699;p11"/>
          <p:cNvSpPr txBox="1"/>
          <p:nvPr/>
        </p:nvSpPr>
        <p:spPr>
          <a:xfrm>
            <a:off x="5523844" y="2237644"/>
            <a:ext cx="2425827" cy="62487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b="1" i="0" lang="pl-PL" sz="1600" u="none" cap="none" strike="noStrike">
                <a:solidFill>
                  <a:srgbClr val="4D76BC"/>
                </a:solidFill>
                <a:latin typeface="Play"/>
                <a:ea typeface="Play"/>
                <a:cs typeface="Play"/>
                <a:sym typeface="Play"/>
              </a:rPr>
              <a:t>Monitorowanie jakości</a:t>
            </a:r>
            <a:endParaRPr b="0" i="0" sz="1600" u="none" cap="none" strike="noStrike">
              <a:solidFill>
                <a:srgbClr val="4D76BC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00" name="Google Shape;700;p11"/>
          <p:cNvSpPr txBox="1"/>
          <p:nvPr/>
        </p:nvSpPr>
        <p:spPr>
          <a:xfrm>
            <a:off x="5978896" y="2925125"/>
            <a:ext cx="2598990" cy="62487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b="1" i="0" lang="pl-PL" sz="1600" u="none" cap="none" strike="noStrike">
                <a:solidFill>
                  <a:srgbClr val="4D76BC"/>
                </a:solidFill>
                <a:latin typeface="Play"/>
                <a:ea typeface="Play"/>
                <a:cs typeface="Play"/>
                <a:sym typeface="Play"/>
              </a:rPr>
              <a:t>Raportowanie postępów</a:t>
            </a:r>
            <a:endParaRPr b="0" i="0" sz="1600" u="none" cap="none" strike="noStrike">
              <a:solidFill>
                <a:srgbClr val="4D76BC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701" name="Google Shape;701;p11"/>
          <p:cNvGrpSpPr/>
          <p:nvPr/>
        </p:nvGrpSpPr>
        <p:grpSpPr>
          <a:xfrm>
            <a:off x="483846" y="1376915"/>
            <a:ext cx="5381266" cy="2365604"/>
            <a:chOff x="490666" y="1216362"/>
            <a:chExt cx="5381266" cy="2365604"/>
          </a:xfrm>
        </p:grpSpPr>
        <p:grpSp>
          <p:nvGrpSpPr>
            <p:cNvPr id="702" name="Google Shape;702;p11"/>
            <p:cNvGrpSpPr/>
            <p:nvPr/>
          </p:nvGrpSpPr>
          <p:grpSpPr>
            <a:xfrm>
              <a:off x="490666" y="1216362"/>
              <a:ext cx="5381266" cy="2365604"/>
              <a:chOff x="490666" y="1216362"/>
              <a:chExt cx="5381266" cy="2365604"/>
            </a:xfrm>
          </p:grpSpPr>
          <p:grpSp>
            <p:nvGrpSpPr>
              <p:cNvPr id="703" name="Google Shape;703;p11"/>
              <p:cNvGrpSpPr/>
              <p:nvPr/>
            </p:nvGrpSpPr>
            <p:grpSpPr>
              <a:xfrm>
                <a:off x="490666" y="1216362"/>
                <a:ext cx="1810662" cy="2365604"/>
                <a:chOff x="490666" y="1216362"/>
                <a:chExt cx="1810662" cy="2365604"/>
              </a:xfrm>
            </p:grpSpPr>
            <p:pic>
              <p:nvPicPr>
                <p:cNvPr descr="Obraz zawierający krąg, zrzut ekranu, Grafika, czarne&#10;&#10;Zawartość wygenerowana przez AI może być niepoprawna." id="704" name="Google Shape;704;p1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rot="2661373">
                  <a:off x="628650" y="1354346"/>
                  <a:ext cx="666391" cy="66639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Obraz zawierający krąg, zrzut ekranu, Grafika, czarne&#10;&#10;Zawartość wygenerowana przez AI może być niepoprawna." id="705" name="Google Shape;705;p1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rot="2661373">
                  <a:off x="1045535" y="2108939"/>
                  <a:ext cx="666391" cy="66639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Obraz zawierający krąg, zrzut ekranu, Grafika, czarne&#10;&#10;Zawartość wygenerowana przez AI może być niepoprawna." id="706" name="Google Shape;706;p1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rot="2661373">
                  <a:off x="1496952" y="2777590"/>
                  <a:ext cx="666391" cy="66639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707" name="Google Shape;707;p11"/>
              <p:cNvGrpSpPr/>
              <p:nvPr/>
            </p:nvGrpSpPr>
            <p:grpSpPr>
              <a:xfrm>
                <a:off x="4007368" y="1222112"/>
                <a:ext cx="1864564" cy="2355238"/>
                <a:chOff x="4007368" y="1222112"/>
                <a:chExt cx="1864564" cy="2355238"/>
              </a:xfrm>
            </p:grpSpPr>
            <p:pic>
              <p:nvPicPr>
                <p:cNvPr descr="Obraz zawierający krąg, zrzut ekranu, Grafika, czarne&#10;&#10;Zawartość wygenerowana przez AI może być niepoprawna." id="708" name="Google Shape;708;p1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rot="2661373">
                  <a:off x="4145352" y="1360096"/>
                  <a:ext cx="666391" cy="66639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Obraz zawierający krąg, zrzut ekranu, Grafika, czarne&#10;&#10;Zawartość wygenerowana przez AI może być niepoprawna." id="709" name="Google Shape;709;p1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rot="2661373">
                  <a:off x="4571186" y="2098048"/>
                  <a:ext cx="666391" cy="66639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Obraz zawierający krąg, zrzut ekranu, Grafika, czarne&#10;&#10;Zawartość wygenerowana przez AI może być niepoprawna." id="710" name="Google Shape;710;p1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rot="2661373">
                  <a:off x="5067556" y="2772974"/>
                  <a:ext cx="666391" cy="66639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sp>
          <p:nvSpPr>
            <p:cNvPr id="711" name="Google Shape;711;p11"/>
            <p:cNvSpPr txBox="1"/>
            <p:nvPr/>
          </p:nvSpPr>
          <p:spPr>
            <a:xfrm>
              <a:off x="779660" y="1300660"/>
              <a:ext cx="343534" cy="6248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2"/>
                </a:buClr>
                <a:buSzPts val="1800"/>
                <a:buFont typeface="Noto Sans Symbols"/>
                <a:buNone/>
              </a:pPr>
              <a:r>
                <a:rPr b="1" i="0" lang="pl-PL" sz="2400" u="none" cap="none" strike="noStrike">
                  <a:solidFill>
                    <a:srgbClr val="505A85"/>
                  </a:solidFill>
                  <a:latin typeface="Play"/>
                  <a:ea typeface="Play"/>
                  <a:cs typeface="Play"/>
                  <a:sym typeface="Play"/>
                </a:rPr>
                <a:t>1</a:t>
              </a:r>
              <a:endParaRPr b="0" i="0" sz="1400" u="none" cap="none" strike="noStrike">
                <a:solidFill>
                  <a:srgbClr val="505A85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12" name="Google Shape;712;p11"/>
            <p:cNvSpPr txBox="1"/>
            <p:nvPr/>
          </p:nvSpPr>
          <p:spPr>
            <a:xfrm>
              <a:off x="1206963" y="2053221"/>
              <a:ext cx="343534" cy="6356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2"/>
                </a:buClr>
                <a:buSzPts val="1800"/>
                <a:buFont typeface="Noto Sans Symbols"/>
                <a:buNone/>
              </a:pPr>
              <a:r>
                <a:rPr b="1" i="0" lang="pl-PL" sz="2400" u="none" cap="none" strike="noStrike">
                  <a:solidFill>
                    <a:srgbClr val="505A85"/>
                  </a:solidFill>
                  <a:latin typeface="Play"/>
                  <a:ea typeface="Play"/>
                  <a:cs typeface="Play"/>
                  <a:sym typeface="Play"/>
                </a:rPr>
                <a:t>2</a:t>
              </a:r>
              <a:endParaRPr b="0" i="0" sz="1400" u="none" cap="none" strike="noStrike">
                <a:solidFill>
                  <a:srgbClr val="505A85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13" name="Google Shape;713;p11"/>
            <p:cNvSpPr txBox="1"/>
            <p:nvPr/>
          </p:nvSpPr>
          <p:spPr>
            <a:xfrm>
              <a:off x="1638441" y="2714173"/>
              <a:ext cx="343534" cy="6248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2"/>
                </a:buClr>
                <a:buSzPts val="1800"/>
                <a:buFont typeface="Noto Sans Symbols"/>
                <a:buNone/>
              </a:pPr>
              <a:r>
                <a:rPr b="1" i="0" lang="pl-PL" sz="2400" u="none" cap="none" strike="noStrike">
                  <a:solidFill>
                    <a:srgbClr val="505A85"/>
                  </a:solidFill>
                  <a:latin typeface="Play"/>
                  <a:ea typeface="Play"/>
                  <a:cs typeface="Play"/>
                  <a:sym typeface="Play"/>
                </a:rPr>
                <a:t>3</a:t>
              </a:r>
              <a:endParaRPr b="0" i="0" sz="1400" u="none" cap="none" strike="noStrike">
                <a:solidFill>
                  <a:srgbClr val="505A85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14" name="Google Shape;714;p11"/>
            <p:cNvSpPr txBox="1"/>
            <p:nvPr/>
          </p:nvSpPr>
          <p:spPr>
            <a:xfrm>
              <a:off x="4306216" y="1303187"/>
              <a:ext cx="343534" cy="6248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2"/>
                </a:buClr>
                <a:buSzPts val="1800"/>
                <a:buFont typeface="Noto Sans Symbols"/>
                <a:buNone/>
              </a:pPr>
              <a:r>
                <a:rPr b="1" i="0" lang="pl-PL" sz="2400" u="none" cap="none" strike="noStrike">
                  <a:solidFill>
                    <a:srgbClr val="505A85"/>
                  </a:solidFill>
                  <a:latin typeface="Play"/>
                  <a:ea typeface="Play"/>
                  <a:cs typeface="Play"/>
                  <a:sym typeface="Play"/>
                </a:rPr>
                <a:t>4</a:t>
              </a:r>
              <a:endParaRPr b="0" i="0" sz="1400" u="none" cap="none" strike="noStrike">
                <a:solidFill>
                  <a:srgbClr val="505A85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15" name="Google Shape;715;p11"/>
            <p:cNvSpPr txBox="1"/>
            <p:nvPr/>
          </p:nvSpPr>
          <p:spPr>
            <a:xfrm>
              <a:off x="4732614" y="2058620"/>
              <a:ext cx="343534" cy="6248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2"/>
                </a:buClr>
                <a:buSzPts val="1800"/>
                <a:buFont typeface="Noto Sans Symbols"/>
                <a:buNone/>
              </a:pPr>
              <a:r>
                <a:rPr b="1" i="0" lang="pl-PL" sz="2400" u="none" cap="none" strike="noStrike">
                  <a:solidFill>
                    <a:srgbClr val="505A85"/>
                  </a:solidFill>
                  <a:latin typeface="Play"/>
                  <a:ea typeface="Play"/>
                  <a:cs typeface="Play"/>
                  <a:sym typeface="Play"/>
                </a:rPr>
                <a:t>5</a:t>
              </a:r>
              <a:endParaRPr b="0" i="0" sz="1400" u="none" cap="none" strike="noStrike">
                <a:solidFill>
                  <a:srgbClr val="505A85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16" name="Google Shape;716;p11"/>
            <p:cNvSpPr txBox="1"/>
            <p:nvPr/>
          </p:nvSpPr>
          <p:spPr>
            <a:xfrm>
              <a:off x="5220441" y="2804173"/>
              <a:ext cx="343534" cy="6248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800"/>
                <a:buFont typeface="Noto Sans Symbols"/>
                <a:buNone/>
              </a:pPr>
              <a:r>
                <a:rPr b="1" i="0" lang="pl-PL" sz="2400" u="none" cap="none" strike="noStrike">
                  <a:solidFill>
                    <a:srgbClr val="505A85"/>
                  </a:solidFill>
                  <a:latin typeface="Play"/>
                  <a:ea typeface="Play"/>
                  <a:cs typeface="Play"/>
                  <a:sym typeface="Play"/>
                </a:rPr>
                <a:t>6</a:t>
              </a:r>
              <a:endParaRPr b="0" i="0" sz="1400" u="none" cap="none" strike="noStrike">
                <a:solidFill>
                  <a:srgbClr val="505A85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1" name="Google Shape;721;p12"/>
          <p:cNvGrpSpPr/>
          <p:nvPr/>
        </p:nvGrpSpPr>
        <p:grpSpPr>
          <a:xfrm>
            <a:off x="5006576" y="1053993"/>
            <a:ext cx="3887255" cy="2851003"/>
            <a:chOff x="5142705" y="1295944"/>
            <a:chExt cx="3771273" cy="2666913"/>
          </a:xfrm>
        </p:grpSpPr>
        <p:sp>
          <p:nvSpPr>
            <p:cNvPr id="722" name="Google Shape;722;p12"/>
            <p:cNvSpPr txBox="1"/>
            <p:nvPr/>
          </p:nvSpPr>
          <p:spPr>
            <a:xfrm>
              <a:off x="5929992" y="3530857"/>
              <a:ext cx="2251800" cy="43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pl-PL" sz="1200">
                  <a:solidFill>
                    <a:srgbClr val="14151F"/>
                  </a:solidFill>
                  <a:latin typeface="Play"/>
                  <a:ea typeface="Play"/>
                  <a:cs typeface="Play"/>
                  <a:sym typeface="Play"/>
                </a:rPr>
                <a:t>{{testimonial.name}}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pl-PL" sz="1200">
                  <a:solidFill>
                    <a:srgbClr val="14151F"/>
                  </a:solidFill>
                  <a:latin typeface="Play"/>
                  <a:ea typeface="Play"/>
                  <a:cs typeface="Play"/>
                  <a:sym typeface="Play"/>
                </a:rPr>
                <a:t>{{testimonial.position}}</a:t>
              </a:r>
              <a:endParaRPr b="0" i="0" sz="1200" u="none" cap="none" strike="noStrike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grpSp>
          <p:nvGrpSpPr>
            <p:cNvPr id="723" name="Google Shape;723;p12"/>
            <p:cNvGrpSpPr/>
            <p:nvPr/>
          </p:nvGrpSpPr>
          <p:grpSpPr>
            <a:xfrm>
              <a:off x="5142705" y="1295944"/>
              <a:ext cx="3771273" cy="2093588"/>
              <a:chOff x="-221074" y="1551679"/>
              <a:chExt cx="3836414" cy="1821771"/>
            </a:xfrm>
          </p:grpSpPr>
          <p:sp>
            <p:nvSpPr>
              <p:cNvPr id="724" name="Google Shape;724;p12"/>
              <p:cNvSpPr/>
              <p:nvPr/>
            </p:nvSpPr>
            <p:spPr>
              <a:xfrm>
                <a:off x="-221074" y="1551679"/>
                <a:ext cx="3836414" cy="1821771"/>
              </a:xfrm>
              <a:prstGeom prst="roundRect">
                <a:avLst>
                  <a:gd fmla="val 16667" name="adj"/>
                </a:avLst>
              </a:prstGeom>
              <a:solidFill>
                <a:srgbClr val="14151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5" name="Google Shape;725;p12"/>
              <p:cNvSpPr txBox="1"/>
              <p:nvPr/>
            </p:nvSpPr>
            <p:spPr>
              <a:xfrm>
                <a:off x="-147665" y="1652285"/>
                <a:ext cx="3762900" cy="22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l-PL" sz="1200">
                    <a:solidFill>
                      <a:schemeClr val="lt1"/>
                    </a:solidFill>
                    <a:latin typeface="Play"/>
                    <a:ea typeface="Play"/>
                    <a:cs typeface="Play"/>
                    <a:sym typeface="Play"/>
                  </a:rPr>
                  <a:t>{{testimonial.content}}</a:t>
                </a:r>
                <a:endParaRPr/>
              </a:p>
            </p:txBody>
          </p:sp>
        </p:grpSp>
      </p:grpSp>
      <p:sp>
        <p:nvSpPr>
          <p:cNvPr id="726" name="Google Shape;726;p12"/>
          <p:cNvSpPr txBox="1"/>
          <p:nvPr/>
        </p:nvSpPr>
        <p:spPr>
          <a:xfrm>
            <a:off x="450230" y="233415"/>
            <a:ext cx="7481851" cy="4066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27" name="Google Shape;727;p12"/>
          <p:cNvSpPr txBox="1"/>
          <p:nvPr>
            <p:ph idx="1" type="body"/>
          </p:nvPr>
        </p:nvSpPr>
        <p:spPr>
          <a:xfrm>
            <a:off x="579421" y="1133299"/>
            <a:ext cx="4501537" cy="36051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b="1" lang="pl-PL"/>
              <a:t>Pogłębiony wywiad dociera do sedna</a:t>
            </a:r>
            <a:br>
              <a:rPr lang="pl-PL"/>
            </a:br>
            <a:r>
              <a:rPr lang="pl-PL"/>
              <a:t>Przeanalizowaliśmy </a:t>
            </a:r>
            <a:r>
              <a:rPr b="1" lang="pl-PL">
                <a:solidFill>
                  <a:srgbClr val="4D76BC"/>
                </a:solidFill>
              </a:rPr>
              <a:t>Twoje potrzeby</a:t>
            </a:r>
            <a:r>
              <a:rPr lang="pl-PL"/>
              <a:t>, by odkryć </a:t>
            </a:r>
            <a:br>
              <a:rPr lang="pl-PL"/>
            </a:br>
            <a:r>
              <a:rPr lang="pl-PL"/>
              <a:t>cele nauki języka i zaprojektować szkolenie.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b="1" lang="pl-PL"/>
              <a:t>Badamy faktyczny stan angielskiego</a:t>
            </a:r>
            <a:br>
              <a:rPr lang="pl-PL"/>
            </a:br>
            <a:r>
              <a:rPr lang="pl-PL"/>
              <a:t>Następnie przebadaliśmy </a:t>
            </a:r>
            <a:r>
              <a:rPr b="1" lang="pl-PL">
                <a:solidFill>
                  <a:srgbClr val="4D76BC"/>
                </a:solidFill>
              </a:rPr>
              <a:t>Twój angielski </a:t>
            </a:r>
            <a:br>
              <a:rPr b="1" lang="pl-PL">
                <a:solidFill>
                  <a:srgbClr val="4D76BC"/>
                </a:solidFill>
              </a:rPr>
            </a:br>
            <a:r>
              <a:rPr b="1" lang="pl-PL">
                <a:solidFill>
                  <a:srgbClr val="4D76BC"/>
                </a:solidFill>
              </a:rPr>
              <a:t>na lekcji próbnej</a:t>
            </a:r>
            <a:r>
              <a:rPr b="1" lang="pl-PL"/>
              <a:t>. </a:t>
            </a:r>
            <a:r>
              <a:rPr lang="pl-PL"/>
              <a:t>Sprawdziliśmy, czy Twoje umiejętności komunikacyjne odpowiadają roli.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b="1" lang="pl-PL"/>
              <a:t>Plany szkoleniowe wskazują cel</a:t>
            </a:r>
            <a:br>
              <a:rPr lang="pl-PL"/>
            </a:br>
            <a:r>
              <a:rPr lang="pl-PL"/>
              <a:t>A teraz na podstawie zdobytych informacji utworzymy szczegółowy Plan Szkolenia, który poprowadzi Cię do osiągnięcia wyznaczonego celu.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800"/>
              </a:spcAft>
              <a:buSzPts val="1800"/>
              <a:buNone/>
            </a:pPr>
            <a:r>
              <a:rPr lang="pl-PL"/>
              <a:t>Wspólne ustalenie celów wzmocni </a:t>
            </a:r>
            <a:r>
              <a:rPr b="1" lang="pl-PL">
                <a:solidFill>
                  <a:srgbClr val="4D76BC"/>
                </a:solidFill>
              </a:rPr>
              <a:t>Twoją motywację.</a:t>
            </a:r>
            <a:endParaRPr/>
          </a:p>
        </p:txBody>
      </p:sp>
      <p:pic>
        <p:nvPicPr>
          <p:cNvPr id="728" name="Google Shape;72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2941" y="2195528"/>
            <a:ext cx="1552371" cy="1552371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12"/>
          <p:cNvSpPr txBox="1"/>
          <p:nvPr>
            <p:ph idx="2" type="body"/>
          </p:nvPr>
        </p:nvSpPr>
        <p:spPr>
          <a:xfrm>
            <a:off x="579419" y="312660"/>
            <a:ext cx="8649247" cy="624187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00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l-PL"/>
              <a:t>3-etapowy proces DISCOVERY, który dociera do sedna</a:t>
            </a:r>
            <a:endParaRPr/>
          </a:p>
        </p:txBody>
      </p:sp>
      <p:pic>
        <p:nvPicPr>
          <p:cNvPr descr="Obraz zawierający Grafika, Czcionka, projekt graficzny, logo&#10;&#10;Zawartość wygenerowana przez AI może być niepoprawna." id="730" name="Google Shape;730;p12"/>
          <p:cNvPicPr preferRelativeResize="0"/>
          <p:nvPr/>
        </p:nvPicPr>
        <p:blipFill rotWithShape="1">
          <a:blip r:embed="rId4">
            <a:alphaModFix/>
          </a:blip>
          <a:srcRect b="16872" l="9749" r="10243" t="6652"/>
          <a:stretch/>
        </p:blipFill>
        <p:spPr>
          <a:xfrm>
            <a:off x="4958023" y="3488548"/>
            <a:ext cx="880507" cy="521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15842" y="2232915"/>
            <a:ext cx="1446550" cy="1477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13"/>
          <p:cNvSpPr txBox="1"/>
          <p:nvPr/>
        </p:nvSpPr>
        <p:spPr>
          <a:xfrm>
            <a:off x="450230" y="233415"/>
            <a:ext cx="7481851" cy="4066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37" name="Google Shape;737;p13"/>
          <p:cNvSpPr txBox="1"/>
          <p:nvPr>
            <p:ph idx="1" type="body"/>
          </p:nvPr>
        </p:nvSpPr>
        <p:spPr>
          <a:xfrm>
            <a:off x="573288" y="1040022"/>
            <a:ext cx="8156644" cy="3071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51F"/>
              </a:buClr>
              <a:buSzPts val="1400"/>
              <a:buNone/>
            </a:pPr>
            <a:r>
              <a:rPr lang="pl-PL"/>
              <a:t>W CoAction dobór lektora to przemyślany proces: analizujemy Twoją branżę, rolę, poziom językowy i profil osobowości. Dzięki temu Twoje szkolenie jest motywujące i efektywne.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4151F"/>
              </a:buClr>
              <a:buSzPts val="1400"/>
              <a:buNone/>
            </a:pPr>
            <a:r>
              <a:rPr b="1" lang="pl-PL"/>
              <a:t>Nasi lektorzy: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Noto Sans Symbols"/>
              <a:buChar char="▪"/>
            </a:pPr>
            <a:r>
              <a:rPr lang="pl-PL"/>
              <a:t>znają realia pracy w branżach takich jak IT, data, finanse, marketing, prawo, medycyna czy HR;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Noto Sans Symbols"/>
              <a:buChar char="▪"/>
            </a:pPr>
            <a:r>
              <a:rPr lang="pl-PL"/>
              <a:t>prowadzą zajęcia w całości po angielsku;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Noto Sans Symbols"/>
              <a:buChar char="▪"/>
            </a:pPr>
            <a:r>
              <a:rPr lang="pl-PL"/>
              <a:t>planują lekcje tak, by były angażujące i spójne z całym szkoleniem;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Noto Sans Symbols"/>
              <a:buChar char="▪"/>
            </a:pPr>
            <a:r>
              <a:rPr lang="pl-PL"/>
              <a:t>dopasowują metody do stylu uczenia się uczestnika;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Noto Sans Symbols"/>
              <a:buChar char="▪"/>
            </a:pPr>
            <a:r>
              <a:rPr lang="pl-PL"/>
              <a:t>monitorują postępy i dają konkretny konstruktywny feedback;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Noto Sans Symbols"/>
              <a:buChar char="▪"/>
            </a:pPr>
            <a:r>
              <a:rPr lang="pl-PL"/>
              <a:t>tworzą atmosferę, która motywuje do nauki;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4151F"/>
              </a:buClr>
              <a:buSzPts val="1400"/>
              <a:buFont typeface="Noto Sans Symbols"/>
              <a:buChar char="▪"/>
            </a:pPr>
            <a:r>
              <a:rPr lang="pl-PL"/>
              <a:t>stale rozwijają się, korzystając ze wsparcia zespołu metodycznego CoAction.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4D76BC"/>
              </a:buClr>
              <a:buSzPts val="1400"/>
              <a:buNone/>
            </a:pPr>
            <a:r>
              <a:rPr b="1" lang="pl-PL">
                <a:solidFill>
                  <a:srgbClr val="4D76BC"/>
                </a:solidFill>
              </a:rPr>
              <a:t>Doskonała znajomość języka to podstawa. My wymagamy więcej.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4151F"/>
              </a:buClr>
              <a:buSzPts val="1400"/>
              <a:buNone/>
            </a:pPr>
            <a:br>
              <a:rPr lang="pl-PL"/>
            </a:br>
            <a:r>
              <a:rPr lang="pl-PL" u="sng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Zobacz sylwetki naszych lektorów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738" name="Google Shape;738;p13"/>
          <p:cNvSpPr txBox="1"/>
          <p:nvPr>
            <p:ph idx="2" type="body"/>
          </p:nvPr>
        </p:nvSpPr>
        <p:spPr>
          <a:xfrm>
            <a:off x="579420" y="312660"/>
            <a:ext cx="8145480" cy="528006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00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151F"/>
              </a:buClr>
              <a:buSzPts val="2500"/>
              <a:buNone/>
            </a:pPr>
            <a:r>
              <a:rPr lang="pl-PL"/>
              <a:t>Lektora dobieramy indywidualnie do uczestnika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4"/>
          <p:cNvSpPr/>
          <p:nvPr/>
        </p:nvSpPr>
        <p:spPr>
          <a:xfrm>
            <a:off x="489192" y="1078264"/>
            <a:ext cx="5256288" cy="3402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25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44" name="Google Shape;744;p14"/>
          <p:cNvSpPr txBox="1"/>
          <p:nvPr/>
        </p:nvSpPr>
        <p:spPr>
          <a:xfrm>
            <a:off x="361458" y="248963"/>
            <a:ext cx="8143843" cy="5546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2A2F45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45" name="Google Shape;745;p14"/>
          <p:cNvSpPr txBox="1"/>
          <p:nvPr>
            <p:ph idx="1" type="body"/>
          </p:nvPr>
        </p:nvSpPr>
        <p:spPr>
          <a:xfrm>
            <a:off x="579421" y="904363"/>
            <a:ext cx="7843908" cy="30714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9388" lvl="0" marL="17938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pl-PL" sz="2200">
                <a:solidFill>
                  <a:srgbClr val="4C72B8"/>
                </a:solidFill>
              </a:rPr>
              <a:t>L</a:t>
            </a:r>
            <a:r>
              <a:rPr b="1" lang="pl-PL"/>
              <a:t>exical </a:t>
            </a:r>
            <a:r>
              <a:rPr lang="pl-PL"/>
              <a:t>– wprowadzamy gotowe frazy i wyrażenia do zastosowania natychmiast </a:t>
            </a:r>
            <a:r>
              <a:rPr b="1" lang="pl-PL"/>
              <a:t>w realnych sytuacjach zawodowych</a:t>
            </a:r>
            <a:r>
              <a:rPr lang="pl-PL"/>
              <a:t>. Skupiamy się na języku funkcjonalnym, a nie pojedynczych słowach.</a:t>
            </a:r>
            <a:endParaRPr/>
          </a:p>
          <a:p>
            <a:pPr indent="-179388" lvl="0" marL="17938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pl-PL" sz="2200">
                <a:solidFill>
                  <a:srgbClr val="4C72B8"/>
                </a:solidFill>
              </a:rPr>
              <a:t>E</a:t>
            </a:r>
            <a:r>
              <a:rPr b="1" lang="pl-PL"/>
              <a:t>ngaging </a:t>
            </a:r>
            <a:r>
              <a:rPr lang="pl-PL"/>
              <a:t>– na zajęciach koncentrujemy się na aktywnym mówieniu. Materiały szkoleniowe dobieramy tak, by zapewnić kontakt z naturalnym językiem, </a:t>
            </a:r>
            <a:r>
              <a:rPr b="1" lang="pl-PL"/>
              <a:t>nasiąkanie autentycznym słownictwem</a:t>
            </a:r>
            <a:r>
              <a:rPr lang="pl-PL"/>
              <a:t>, strukturami i akcentem.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pl-PL" sz="2200">
                <a:solidFill>
                  <a:srgbClr val="4C72B8"/>
                </a:solidFill>
              </a:rPr>
              <a:t>A</a:t>
            </a:r>
            <a:r>
              <a:rPr b="1" lang="pl-PL"/>
              <a:t>pplied </a:t>
            </a:r>
            <a:r>
              <a:rPr lang="pl-PL"/>
              <a:t>– wykorzystujemy </a:t>
            </a:r>
            <a:r>
              <a:rPr b="1" lang="pl-PL"/>
              <a:t>narzędzia maksymalizujące zapamiętywanie</a:t>
            </a:r>
            <a:r>
              <a:rPr lang="pl-PL"/>
              <a:t>:</a:t>
            </a:r>
            <a:endParaRPr/>
          </a:p>
          <a:p>
            <a:pPr indent="-324000" lvl="1" marL="10080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pl-PL"/>
              <a:t>TOP – precyzyjnie dookreślający cele,</a:t>
            </a:r>
            <a:endParaRPr/>
          </a:p>
          <a:p>
            <a:pPr indent="-324000" lvl="1" marL="1008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pl-PL"/>
              <a:t>CoAction Training Report – systematyczny feedback i plan powtórek,</a:t>
            </a:r>
            <a:endParaRPr/>
          </a:p>
          <a:p>
            <a:pPr indent="-324000" lvl="1" marL="1008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pl-PL"/>
              <a:t>Quizlet – cyfrowe fiszki utrwalające kluczowe frazy z Twojego Training Report.</a:t>
            </a:r>
            <a:endParaRPr/>
          </a:p>
          <a:p>
            <a:pPr indent="-179388" lvl="0" marL="179388" rtl="0" algn="l">
              <a:lnSpc>
                <a:spcPct val="100000"/>
              </a:lnSpc>
              <a:spcBef>
                <a:spcPts val="900"/>
              </a:spcBef>
              <a:spcAft>
                <a:spcPts val="600"/>
              </a:spcAft>
              <a:buSzPts val="1800"/>
              <a:buNone/>
            </a:pPr>
            <a:r>
              <a:rPr b="1" lang="pl-PL" sz="2200">
                <a:solidFill>
                  <a:srgbClr val="4C72B8"/>
                </a:solidFill>
              </a:rPr>
              <a:t>P</a:t>
            </a:r>
            <a:r>
              <a:rPr b="1" lang="pl-PL"/>
              <a:t>ractical </a:t>
            </a:r>
            <a:r>
              <a:rPr lang="pl-PL"/>
              <a:t>– ćwiczymy </a:t>
            </a:r>
            <a:r>
              <a:rPr b="1" lang="pl-PL"/>
              <a:t>język, którego uczestnik potrzebuje tu i teraz</a:t>
            </a:r>
            <a:r>
              <a:rPr lang="pl-PL"/>
              <a:t>. </a:t>
            </a:r>
            <a:br>
              <a:rPr lang="pl-PL"/>
            </a:br>
            <a:r>
              <a:rPr lang="pl-PL"/>
              <a:t>Bo język używany to język zapamiętany.</a:t>
            </a:r>
            <a:endParaRPr/>
          </a:p>
        </p:txBody>
      </p:sp>
      <p:sp>
        <p:nvSpPr>
          <p:cNvPr id="746" name="Google Shape;746;p14"/>
          <p:cNvSpPr txBox="1"/>
          <p:nvPr>
            <p:ph idx="2" type="body"/>
          </p:nvPr>
        </p:nvSpPr>
        <p:spPr>
          <a:xfrm>
            <a:off x="579420" y="312660"/>
            <a:ext cx="8145480" cy="624187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00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l-PL">
                <a:solidFill>
                  <a:srgbClr val="4C72B8"/>
                </a:solidFill>
              </a:rPr>
              <a:t>LEAP</a:t>
            </a:r>
            <a:r>
              <a:rPr lang="pl-PL"/>
              <a:t> – metoda skoku na wyższy poziom</a:t>
            </a:r>
            <a:endParaRPr/>
          </a:p>
        </p:txBody>
      </p:sp>
      <p:sp>
        <p:nvSpPr>
          <p:cNvPr descr="Kangur z wypełnieniem pełnym" id="747" name="Google Shape;747;p14"/>
          <p:cNvSpPr/>
          <p:nvPr/>
        </p:nvSpPr>
        <p:spPr>
          <a:xfrm>
            <a:off x="7590901" y="2440110"/>
            <a:ext cx="914400" cy="914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5"/>
          <p:cNvSpPr txBox="1"/>
          <p:nvPr/>
        </p:nvSpPr>
        <p:spPr>
          <a:xfrm>
            <a:off x="361458" y="248963"/>
            <a:ext cx="8143843" cy="5546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2A2F45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53" name="Google Shape;753;p15"/>
          <p:cNvSpPr txBox="1"/>
          <p:nvPr>
            <p:ph idx="1" type="body"/>
          </p:nvPr>
        </p:nvSpPr>
        <p:spPr>
          <a:xfrm>
            <a:off x="579420" y="1009400"/>
            <a:ext cx="5916479" cy="3821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pl-PL"/>
              <a:t>realizacja w max. 10 dni roboczych od podpisania umowy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pl-PL"/>
              <a:t>elastycznie dopasowanie ram czasowych do Twoich potrzeb </a:t>
            </a:r>
            <a:br>
              <a:rPr lang="pl-PL"/>
            </a:br>
            <a:r>
              <a:rPr lang="pl-PL"/>
              <a:t>bez narzuconych semestrów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pl-PL"/>
              <a:t>indywidualnie ustalany grafik zajęć </a:t>
            </a:r>
            <a:br>
              <a:rPr lang="pl-PL"/>
            </a:br>
            <a:r>
              <a:rPr lang="pl-PL"/>
              <a:t>– dni robocze od 7:00 do 21:00 oraz weekendy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pl-PL"/>
              <a:t>jasne zasady przekładania i/lub odwoływania zajęć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pl-PL"/>
              <a:t>zajęcia online na wybranym komunikatorze, </a:t>
            </a:r>
            <a:br>
              <a:rPr lang="pl-PL"/>
            </a:br>
            <a:r>
              <a:rPr lang="pl-PL"/>
              <a:t>np. Teams, Meets, Zoom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pl-PL"/>
              <a:t>na życzenie certyfikat potwierdzający kompetencje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pl-PL"/>
              <a:t>dożywotni dostęp do materiałów szkoleniowych, w tym spersonalizowane rekomendacje od Twojego lektora </a:t>
            </a:r>
            <a:br>
              <a:rPr lang="pl-PL"/>
            </a:br>
            <a:r>
              <a:rPr lang="pl-PL"/>
              <a:t>w tzw. Self Study Pack.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SzPts val="1800"/>
              <a:buFont typeface="Noto Sans Symbols"/>
              <a:buChar char="▪"/>
            </a:pPr>
            <a:r>
              <a:rPr lang="pl-PL"/>
              <a:t>możliwość monitorowania planu szkolenia i wykorzystania godzin na platformie eduSky</a:t>
            </a:r>
            <a:endParaRPr/>
          </a:p>
        </p:txBody>
      </p:sp>
      <p:sp>
        <p:nvSpPr>
          <p:cNvPr id="754" name="Google Shape;754;p15"/>
          <p:cNvSpPr txBox="1"/>
          <p:nvPr>
            <p:ph idx="2" type="body"/>
          </p:nvPr>
        </p:nvSpPr>
        <p:spPr>
          <a:xfrm>
            <a:off x="579420" y="312660"/>
            <a:ext cx="8145480" cy="528006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00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l-PL"/>
              <a:t>Szkolenia w dobrze zaprojektowanej strukturze</a:t>
            </a:r>
            <a:endParaRPr/>
          </a:p>
        </p:txBody>
      </p:sp>
      <p:pic>
        <p:nvPicPr>
          <p:cNvPr id="755" name="Google Shape;75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2400" y="1029600"/>
            <a:ext cx="2995200" cy="299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0" name="Google Shape;76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9689" y="1188073"/>
            <a:ext cx="2599067" cy="2599067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16"/>
          <p:cNvSpPr txBox="1"/>
          <p:nvPr>
            <p:ph idx="1" type="body"/>
          </p:nvPr>
        </p:nvSpPr>
        <p:spPr>
          <a:xfrm>
            <a:off x="599381" y="848054"/>
            <a:ext cx="5720308" cy="39827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b="1" lang="pl-PL" sz="1200"/>
              <a:t>Motywacja do działania</a:t>
            </a:r>
            <a:endParaRPr/>
          </a:p>
          <a:p>
            <a:pPr indent="-285750" lvl="0" marL="32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lang="pl-PL" sz="1200"/>
              <a:t>Jasno określone cele według Twoich priorytetów</a:t>
            </a:r>
            <a:endParaRPr/>
          </a:p>
          <a:p>
            <a:pPr indent="-285750" lvl="0" marL="32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lang="pl-PL" sz="1200"/>
              <a:t>Indywidualnie dobrany lektor z adekwatnym doświadczeniem w branży IT </a:t>
            </a:r>
            <a:endParaRPr/>
          </a:p>
          <a:p>
            <a:pPr indent="-285750" lvl="0" marL="32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lang="pl-PL" sz="1200"/>
              <a:t>Elastyczne dopasowanie grafiku</a:t>
            </a:r>
            <a:br>
              <a:rPr lang="pl-PL" sz="1200"/>
            </a:br>
            <a:endParaRPr b="1" sz="1200"/>
          </a:p>
          <a:p>
            <a:pPr indent="0" lvl="0" marL="382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pl-PL" sz="1200"/>
              <a:t>Przełamanie barier i upgrade komunikacji</a:t>
            </a:r>
            <a:endParaRPr/>
          </a:p>
          <a:p>
            <a:pPr indent="-285750" lvl="0" marL="32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lang="pl-PL" sz="1200"/>
              <a:t>Bezpieczna przestrzeń do eliminacji błędów </a:t>
            </a:r>
            <a:endParaRPr/>
          </a:p>
          <a:p>
            <a:pPr indent="-285750" lvl="0" marL="32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lang="pl-PL" sz="1200"/>
              <a:t>Dobra atmosfera do budowania pewności siebie</a:t>
            </a:r>
            <a:endParaRPr/>
          </a:p>
          <a:p>
            <a:pPr indent="-285750" lvl="0" marL="32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lang="pl-PL" sz="1200"/>
              <a:t>Ćwiczenie naturalnego języka w kontekście Twojej roli </a:t>
            </a:r>
            <a:br>
              <a:rPr lang="pl-PL" sz="1200"/>
            </a:br>
            <a:endParaRPr b="1" sz="1200"/>
          </a:p>
          <a:p>
            <a:pPr indent="0" lvl="0" marL="382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pl-PL" sz="1200"/>
              <a:t>Trwałość efektów</a:t>
            </a:r>
            <a:endParaRPr/>
          </a:p>
          <a:p>
            <a:pPr indent="-285750" lvl="0" marL="32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lang="pl-PL" sz="1200"/>
              <a:t>Zakres angielskiego gotowy do natychmiastowego używania w pracy</a:t>
            </a:r>
            <a:endParaRPr/>
          </a:p>
          <a:p>
            <a:pPr indent="-285750" lvl="0" marL="32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lang="pl-PL" sz="1200"/>
              <a:t>Skuteczny system powtórek dla efektywnego zapamiętywania</a:t>
            </a:r>
            <a:endParaRPr/>
          </a:p>
          <a:p>
            <a:pPr indent="-285750" lvl="0" marL="324000" rtl="0" algn="l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SzPts val="1800"/>
              <a:buFont typeface="Noto Sans Symbols"/>
              <a:buChar char="✔"/>
            </a:pPr>
            <a:r>
              <a:rPr lang="pl-PL" sz="1200"/>
              <a:t>Autentyczne materiały szkoleniowe dostępne dożywotnio</a:t>
            </a:r>
            <a:endParaRPr/>
          </a:p>
        </p:txBody>
      </p:sp>
      <p:sp>
        <p:nvSpPr>
          <p:cNvPr id="762" name="Google Shape;762;p16"/>
          <p:cNvSpPr txBox="1"/>
          <p:nvPr/>
        </p:nvSpPr>
        <p:spPr>
          <a:xfrm>
            <a:off x="599381" y="244807"/>
            <a:ext cx="8401281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2B304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189" lvl="0" marL="228594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00" u="none" cap="none" strike="noStrike">
              <a:solidFill>
                <a:srgbClr val="2B304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3" name="Google Shape;763;p16"/>
          <p:cNvSpPr txBox="1"/>
          <p:nvPr/>
        </p:nvSpPr>
        <p:spPr>
          <a:xfrm>
            <a:off x="380376" y="380890"/>
            <a:ext cx="8763624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64" name="Google Shape;764;p16"/>
          <p:cNvSpPr txBox="1"/>
          <p:nvPr>
            <p:ph idx="2" type="body"/>
          </p:nvPr>
        </p:nvSpPr>
        <p:spPr>
          <a:xfrm>
            <a:off x="579420" y="312660"/>
            <a:ext cx="8145480" cy="624187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00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l-PL"/>
              <a:t>Co zyskasz wybierając szkolenie z CoAction?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17"/>
          <p:cNvSpPr/>
          <p:nvPr/>
        </p:nvSpPr>
        <p:spPr>
          <a:xfrm>
            <a:off x="375355" y="1861998"/>
            <a:ext cx="8466720" cy="19940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B3046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70" name="Google Shape;770;p17"/>
          <p:cNvSpPr txBox="1"/>
          <p:nvPr/>
        </p:nvSpPr>
        <p:spPr>
          <a:xfrm>
            <a:off x="618226" y="296487"/>
            <a:ext cx="8143843" cy="59614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pl-PL" sz="2800" u="none" cap="none" strike="noStrike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rPr>
              <a:t>Podsumowanie Twoich osiągnięć</a:t>
            </a:r>
            <a:endParaRPr/>
          </a:p>
        </p:txBody>
      </p:sp>
      <p:sp>
        <p:nvSpPr>
          <p:cNvPr id="771" name="Google Shape;771;p17"/>
          <p:cNvSpPr txBox="1"/>
          <p:nvPr>
            <p:ph idx="1" type="body"/>
          </p:nvPr>
        </p:nvSpPr>
        <p:spPr>
          <a:xfrm>
            <a:off x="3655753" y="1145360"/>
            <a:ext cx="5106316" cy="23734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l-PL"/>
              <a:t>W trakcie szkolenia na bieżąco monitorujemy Twoje postępy, wykorzystując autorskie narzędzia – Training Outline oraz Training Report. Dzięki nim możesz mieć pewność, że zmierzasz w dobrym kierunku.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pl-PL"/>
              <a:t>Na ostatnich zajęciach wraz z lektorem</a:t>
            </a:r>
            <a:r>
              <a:rPr lang="pl-PL">
                <a:solidFill>
                  <a:srgbClr val="2B3046"/>
                </a:solidFill>
              </a:rPr>
              <a:t> </a:t>
            </a:r>
            <a:r>
              <a:rPr b="1" lang="pl-PL">
                <a:solidFill>
                  <a:srgbClr val="4D76BC"/>
                </a:solidFill>
              </a:rPr>
              <a:t>podsumujecie nabyte umiejętności</a:t>
            </a:r>
            <a:r>
              <a:rPr lang="pl-PL">
                <a:solidFill>
                  <a:srgbClr val="FF5E5B"/>
                </a:solidFill>
              </a:rPr>
              <a:t> </a:t>
            </a:r>
            <a:r>
              <a:rPr lang="pl-PL"/>
              <a:t>i wspólnie ocenicie Twój poziom. Połączenie samooceny z informacją zwrotną od lektora pozwoli </a:t>
            </a:r>
            <a:br>
              <a:rPr lang="pl-PL"/>
            </a:br>
            <a:r>
              <a:rPr lang="pl-PL"/>
              <a:t>Ci spojrzeć na swoje osiągnięcia z różnych perspektyw. </a:t>
            </a:r>
            <a:br>
              <a:rPr lang="pl-PL"/>
            </a:br>
            <a:r>
              <a:rPr lang="pl-PL"/>
              <a:t>Jeśli poczujesz niedosyt, na Twoje życzenie powtórzymy konsultację z metodyczką.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None/>
            </a:pPr>
            <a:r>
              <a:rPr b="1" lang="pl-PL"/>
              <a:t>Wybierając CoAction, inwestujesz w efektywne, spersonalizowane szkolenie, które realnie przełoży </a:t>
            </a:r>
            <a:br>
              <a:rPr b="1" lang="pl-PL"/>
            </a:br>
            <a:r>
              <a:rPr b="1" lang="pl-PL"/>
              <a:t>się na Twoje komunikacyjne sukcesy.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72" name="Google Shape;77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954" y="1145360"/>
            <a:ext cx="2995200" cy="299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18"/>
          <p:cNvSpPr/>
          <p:nvPr/>
        </p:nvSpPr>
        <p:spPr>
          <a:xfrm>
            <a:off x="391065" y="923995"/>
            <a:ext cx="4905556" cy="38061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B0F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78" name="Google Shape;778;p18"/>
          <p:cNvSpPr txBox="1"/>
          <p:nvPr>
            <p:ph idx="1" type="body"/>
          </p:nvPr>
        </p:nvSpPr>
        <p:spPr>
          <a:xfrm>
            <a:off x="602857" y="952751"/>
            <a:ext cx="5239891" cy="38380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b="1" lang="pl-PL">
                <a:solidFill>
                  <a:srgbClr val="000000"/>
                </a:solidFill>
              </a:rPr>
              <a:t>Założyciel CoAction (Przemek)</a:t>
            </a:r>
            <a:br>
              <a:rPr lang="pl-PL">
                <a:solidFill>
                  <a:srgbClr val="000000"/>
                </a:solidFill>
              </a:rPr>
            </a:br>
            <a:r>
              <a:rPr lang="pl-PL">
                <a:solidFill>
                  <a:srgbClr val="000000"/>
                </a:solidFill>
              </a:rPr>
              <a:t>Poprowadzi cały proces od badania potrzeb po rekomendację </a:t>
            </a:r>
            <a:br>
              <a:rPr lang="pl-PL">
                <a:solidFill>
                  <a:srgbClr val="000000"/>
                </a:solidFill>
              </a:rPr>
            </a:br>
            <a:r>
              <a:rPr lang="pl-PL">
                <a:solidFill>
                  <a:srgbClr val="000000"/>
                </a:solidFill>
              </a:rPr>
              <a:t>i będzie dostępny w trakcie szkolenia oraz jego podsumowania.</a:t>
            </a:r>
            <a:br>
              <a:rPr lang="pl-PL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b="1" lang="pl-PL">
                <a:solidFill>
                  <a:srgbClr val="000000"/>
                </a:solidFill>
              </a:rPr>
              <a:t>Metodyczki (Ola lub Dorota)</a:t>
            </a:r>
            <a:br>
              <a:rPr lang="pl-PL">
                <a:solidFill>
                  <a:srgbClr val="000000"/>
                </a:solidFill>
              </a:rPr>
            </a:br>
            <a:r>
              <a:rPr lang="pl-PL">
                <a:solidFill>
                  <a:srgbClr val="000000"/>
                </a:solidFill>
              </a:rPr>
              <a:t>Zadbają o jakość i efektywność szkolenia. Na początku ocenią Twój poziom komunikacji, przygotują rekomendację, dobiorą lektora i będą monitorować realizację kursu zgodnie z celami.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br>
              <a:rPr b="1" lang="pl-PL">
                <a:solidFill>
                  <a:srgbClr val="000000"/>
                </a:solidFill>
              </a:rPr>
            </a:br>
            <a:r>
              <a:rPr b="1" lang="pl-PL">
                <a:solidFill>
                  <a:srgbClr val="000000"/>
                </a:solidFill>
              </a:rPr>
              <a:t>Opiekun finansowy (Paulina)</a:t>
            </a:r>
            <a:br>
              <a:rPr lang="pl-PL">
                <a:solidFill>
                  <a:srgbClr val="000000"/>
                </a:solidFill>
              </a:rPr>
            </a:br>
            <a:r>
              <a:rPr lang="pl-PL">
                <a:solidFill>
                  <a:srgbClr val="000000"/>
                </a:solidFill>
              </a:rPr>
              <a:t>Zapewni przejrzyste i terminowe rozliczenia w dogodnej formie.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br>
              <a:rPr b="1" lang="pl-PL">
                <a:solidFill>
                  <a:srgbClr val="000000"/>
                </a:solidFill>
              </a:rPr>
            </a:br>
            <a:r>
              <a:rPr b="1" lang="pl-PL">
                <a:solidFill>
                  <a:srgbClr val="000000"/>
                </a:solidFill>
              </a:rPr>
              <a:t>Twój lektor</a:t>
            </a:r>
            <a:br>
              <a:rPr lang="pl-PL">
                <a:solidFill>
                  <a:srgbClr val="000000"/>
                </a:solidFill>
              </a:rPr>
            </a:br>
            <a:r>
              <a:rPr lang="pl-PL">
                <a:solidFill>
                  <a:srgbClr val="000000"/>
                </a:solidFill>
              </a:rPr>
              <a:t>Poprowadzi zajęcia zgodnie z Twoimi celami i wesprze rozwój naturalnego, współczesnego języka biznesowego. </a:t>
            </a:r>
            <a:br>
              <a:rPr lang="pl-PL" sz="1400" u="sng">
                <a:solidFill>
                  <a:schemeClr val="accent3"/>
                </a:solidFill>
                <a:latin typeface="Play"/>
                <a:ea typeface="Play"/>
                <a:cs typeface="Play"/>
                <a:sym typeface="Pla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br>
              <a:rPr lang="pl-PL" sz="1400" u="sng">
                <a:solidFill>
                  <a:schemeClr val="accent3"/>
                </a:solidFill>
                <a:latin typeface="Play"/>
                <a:ea typeface="Play"/>
                <a:cs typeface="Play"/>
                <a:sym typeface="Play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lang="pl-PL" sz="1400" u="sng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Zobacz sylwetki lektorów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779" name="Google Shape;779;p18"/>
          <p:cNvSpPr txBox="1"/>
          <p:nvPr>
            <p:ph idx="2" type="body"/>
          </p:nvPr>
        </p:nvSpPr>
        <p:spPr>
          <a:xfrm>
            <a:off x="602857" y="239111"/>
            <a:ext cx="8179685" cy="624187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00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151F"/>
              </a:buClr>
              <a:buSzPts val="2500"/>
              <a:buNone/>
            </a:pPr>
            <a:r>
              <a:rPr b="1" lang="pl-PL" sz="2500">
                <a:latin typeface="Play"/>
                <a:ea typeface="Play"/>
                <a:cs typeface="Play"/>
                <a:sym typeface="Play"/>
              </a:rPr>
              <a:t>Zgrany zespół dba o sprawną realizację szkoleń</a:t>
            </a:r>
            <a:endParaRPr/>
          </a:p>
        </p:txBody>
      </p:sp>
      <p:pic>
        <p:nvPicPr>
          <p:cNvPr id="780" name="Google Shape;780;p18"/>
          <p:cNvPicPr preferRelativeResize="0"/>
          <p:nvPr/>
        </p:nvPicPr>
        <p:blipFill rotWithShape="1">
          <a:blip r:embed="rId6">
            <a:alphaModFix/>
          </a:blip>
          <a:srcRect b="0" l="13773" r="13773" t="0"/>
          <a:stretch/>
        </p:blipFill>
        <p:spPr>
          <a:xfrm>
            <a:off x="5842748" y="1065795"/>
            <a:ext cx="3076300" cy="3011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19"/>
          <p:cNvSpPr txBox="1"/>
          <p:nvPr/>
        </p:nvSpPr>
        <p:spPr>
          <a:xfrm>
            <a:off x="6582516" y="1280448"/>
            <a:ext cx="2294627" cy="239725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pl-PL" sz="1400" u="none" cap="none" strike="noStrike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rPr>
              <a:t>„Dzięki CoAction nowi klienci z USA wybrali nas do współpracy. Zobaczyli, że poziom angielskiego developerów jest bardzo dobry i równy w całym zespole.”</a:t>
            </a:r>
            <a:endParaRPr b="0" i="1" sz="1200" u="none" cap="none" strike="noStrike">
              <a:solidFill>
                <a:srgbClr val="14151F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80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pl-PL" sz="1200" u="none" cap="none" strike="noStrike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rPr>
              <a:t>Michał Piórkowski</a:t>
            </a:r>
            <a:br>
              <a:rPr b="0" i="0" lang="pl-PL" sz="1200" u="none" cap="none" strike="noStrike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0" i="0" lang="pl-PL" sz="1200" u="none" cap="none" strike="noStrike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rPr>
              <a:t>CEO &amp; Cofounder</a:t>
            </a:r>
            <a:endParaRPr b="0" i="0" sz="1200" u="none" cap="none" strike="noStrike">
              <a:solidFill>
                <a:srgbClr val="14151F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786" name="Google Shape;786;p19"/>
          <p:cNvGrpSpPr/>
          <p:nvPr/>
        </p:nvGrpSpPr>
        <p:grpSpPr>
          <a:xfrm>
            <a:off x="579419" y="1364577"/>
            <a:ext cx="3775276" cy="3205513"/>
            <a:chOff x="579419" y="1364577"/>
            <a:chExt cx="3775276" cy="3205513"/>
          </a:xfrm>
        </p:grpSpPr>
        <p:sp>
          <p:nvSpPr>
            <p:cNvPr id="787" name="Google Shape;787;p19"/>
            <p:cNvSpPr txBox="1"/>
            <p:nvPr/>
          </p:nvSpPr>
          <p:spPr>
            <a:xfrm>
              <a:off x="579419" y="2793918"/>
              <a:ext cx="3775276" cy="1776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i="0" lang="pl-PL" sz="1400" u="none" cap="none" strike="noStrike">
                  <a:solidFill>
                    <a:srgbClr val="14151F"/>
                  </a:solidFill>
                  <a:latin typeface="Play"/>
                  <a:ea typeface="Play"/>
                  <a:cs typeface="Play"/>
                  <a:sym typeface="Play"/>
                </a:rPr>
                <a:t>„</a:t>
              </a:r>
              <a:r>
                <a:rPr b="0" i="0" lang="pl-PL" sz="14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Na szkoleniach CoAction pracowaliśmy </a:t>
              </a:r>
              <a:br>
                <a:rPr b="0" i="0" lang="pl-PL" sz="14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</a:br>
              <a:r>
                <a:rPr b="0" i="0" lang="pl-PL" sz="14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z konkretnymi problemami z angielskim. </a:t>
              </a:r>
              <a:br>
                <a:rPr b="0" i="0" lang="pl-PL" sz="14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</a:br>
              <a:r>
                <a:rPr b="0" i="0" lang="pl-PL" sz="14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To procentowało, bo </a:t>
              </a:r>
              <a:r>
                <a:rPr b="0" i="0" lang="pl-PL" sz="1400" u="none" cap="none" strike="noStrike">
                  <a:solidFill>
                    <a:srgbClr val="14151F"/>
                  </a:solidFill>
                  <a:latin typeface="Play"/>
                  <a:ea typeface="Play"/>
                  <a:cs typeface="Play"/>
                  <a:sym typeface="Play"/>
                </a:rPr>
                <a:t>czuliśmy</a:t>
              </a:r>
              <a:r>
                <a:rPr b="0" i="0" lang="pl-PL" sz="1400" u="none" cap="none" strike="noStrike">
                  <a:solidFill>
                    <a:srgbClr val="14151F"/>
                  </a:solidFill>
                  <a:latin typeface="Play"/>
                  <a:ea typeface="Play"/>
                  <a:cs typeface="Play"/>
                  <a:sym typeface="Play"/>
                </a:rPr>
                <a:t> widoczny progres w codziennej komunikacji </a:t>
              </a:r>
              <a:br>
                <a:rPr b="0" i="0" lang="pl-PL" sz="1400" u="none" cap="none" strike="noStrike">
                  <a:solidFill>
                    <a:srgbClr val="14151F"/>
                  </a:solidFill>
                  <a:latin typeface="Play"/>
                  <a:ea typeface="Play"/>
                  <a:cs typeface="Play"/>
                  <a:sym typeface="Play"/>
                </a:rPr>
              </a:br>
              <a:r>
                <a:rPr b="0" i="0" lang="pl-PL" sz="1400" u="none" cap="none" strike="noStrike">
                  <a:solidFill>
                    <a:srgbClr val="14151F"/>
                  </a:solidFill>
                  <a:latin typeface="Play"/>
                  <a:ea typeface="Play"/>
                  <a:cs typeface="Play"/>
                  <a:sym typeface="Play"/>
                </a:rPr>
                <a:t>z klientami.”</a:t>
              </a:r>
              <a:endParaRPr b="0" i="0" sz="1200" u="none" cap="none" strike="noStrike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600"/>
                </a:spcBef>
                <a:spcAft>
                  <a:spcPts val="80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pl-PL" sz="1200" u="none" cap="none" strike="noStrike">
                  <a:solidFill>
                    <a:srgbClr val="14151F"/>
                  </a:solidFill>
                  <a:latin typeface="Play"/>
                  <a:ea typeface="Play"/>
                  <a:cs typeface="Play"/>
                  <a:sym typeface="Play"/>
                </a:rPr>
                <a:t>Marek Kirejczyk</a:t>
              </a:r>
              <a:br>
                <a:rPr b="0" i="0" lang="pl-PL" sz="1200" u="none" cap="none" strike="noStrike">
                  <a:solidFill>
                    <a:srgbClr val="14151F"/>
                  </a:solidFill>
                  <a:latin typeface="Play"/>
                  <a:ea typeface="Play"/>
                  <a:cs typeface="Play"/>
                  <a:sym typeface="Play"/>
                </a:rPr>
              </a:br>
              <a:r>
                <a:rPr b="0" i="0" lang="pl-PL" sz="1200" u="none" cap="none" strike="noStrike">
                  <a:solidFill>
                    <a:srgbClr val="14151F"/>
                  </a:solidFill>
                  <a:latin typeface="Play"/>
                  <a:ea typeface="Play"/>
                  <a:cs typeface="Play"/>
                  <a:sym typeface="Play"/>
                </a:rPr>
                <a:t>CEO &amp; Founder</a:t>
              </a:r>
              <a:endParaRPr b="1" i="0" sz="800" u="none" cap="none" strike="noStrike">
                <a:solidFill>
                  <a:srgbClr val="2B3046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788" name="Google Shape;788;p19"/>
            <p:cNvGrpSpPr/>
            <p:nvPr/>
          </p:nvGrpSpPr>
          <p:grpSpPr>
            <a:xfrm>
              <a:off x="1120213" y="1364577"/>
              <a:ext cx="1810014" cy="1432931"/>
              <a:chOff x="1055969" y="1502998"/>
              <a:chExt cx="1810014" cy="1432931"/>
            </a:xfrm>
          </p:grpSpPr>
          <p:pic>
            <p:nvPicPr>
              <p:cNvPr id="789" name="Google Shape;789;p19">
                <a:hlinkClick r:id="rId3"/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 b="0" l="11650" r="11650" t="0"/>
              <a:stretch/>
            </p:blipFill>
            <p:spPr>
              <a:xfrm>
                <a:off x="1215207" y="1502998"/>
                <a:ext cx="1650776" cy="1289503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</p:pic>
          <p:pic>
            <p:nvPicPr>
              <p:cNvPr id="790" name="Google Shape;790;p19">
                <a:hlinkClick r:id="rId5"/>
              </p:cNvPr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055969" y="2448249"/>
                <a:ext cx="428692" cy="48768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descr="Obraz zawierający tekst, Czcionka, logo, Grafika&#10;&#10;Opis wygenerowany automatycznie" id="791" name="Google Shape;79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01911" y="3089972"/>
            <a:ext cx="1215544" cy="4927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2" name="Google Shape;792;p19"/>
          <p:cNvGrpSpPr/>
          <p:nvPr/>
        </p:nvGrpSpPr>
        <p:grpSpPr>
          <a:xfrm>
            <a:off x="4561931" y="1379395"/>
            <a:ext cx="1789018" cy="1431333"/>
            <a:chOff x="5321674" y="1635192"/>
            <a:chExt cx="1789018" cy="1431333"/>
          </a:xfrm>
        </p:grpSpPr>
        <p:pic>
          <p:nvPicPr>
            <p:cNvPr id="793" name="Google Shape;793;p19">
              <a:hlinkClick r:id="rId8"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14259" r="14259" t="0"/>
            <a:stretch/>
          </p:blipFill>
          <p:spPr>
            <a:xfrm>
              <a:off x="5462621" y="1635192"/>
              <a:ext cx="1648071" cy="1295695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pic>
        <p:pic>
          <p:nvPicPr>
            <p:cNvPr id="794" name="Google Shape;794;p19">
              <a:hlinkClick r:id="rId10"/>
            </p:cNvPr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321674" y="2578845"/>
              <a:ext cx="428692" cy="48768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95" name="Google Shape;795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244514" y="4300602"/>
            <a:ext cx="1580897" cy="297437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19"/>
          <p:cNvSpPr txBox="1"/>
          <p:nvPr>
            <p:ph idx="2" type="body"/>
          </p:nvPr>
        </p:nvSpPr>
        <p:spPr>
          <a:xfrm>
            <a:off x="579420" y="236460"/>
            <a:ext cx="8145480" cy="624187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00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l-PL"/>
              <a:t>Widoczny progres w komunikacji z klientami</a:t>
            </a:r>
            <a:endParaRPr b="0" i="0" sz="2500" u="none" cap="none" strike="noStrike"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97" name="Google Shape;797;p19"/>
          <p:cNvSpPr txBox="1"/>
          <p:nvPr/>
        </p:nvSpPr>
        <p:spPr>
          <a:xfrm>
            <a:off x="579418" y="885975"/>
            <a:ext cx="5553963" cy="394124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00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pl-PL" sz="1200" u="none" cap="none" strike="noStrike">
                <a:solidFill>
                  <a:srgbClr val="4D76BC"/>
                </a:solidFill>
                <a:latin typeface="Play"/>
                <a:ea typeface="Play"/>
                <a:cs typeface="Play"/>
                <a:sym typeface="Play"/>
              </a:rPr>
              <a:t>Naciśnij CTRL i kliknij grafikę, by zobaczyć klip wideo.</a:t>
            </a:r>
            <a:endParaRPr b="0" i="0" sz="1200" u="none" cap="none" strike="noStrike">
              <a:solidFill>
                <a:srgbClr val="4D76BC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20"/>
          <p:cNvSpPr txBox="1"/>
          <p:nvPr/>
        </p:nvSpPr>
        <p:spPr>
          <a:xfrm>
            <a:off x="579420" y="312660"/>
            <a:ext cx="8341200" cy="6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rPr>
              <a:t>TO DO - ADD TITLE</a:t>
            </a:r>
            <a:endParaRPr b="1" i="0" sz="2000" u="none" cap="none" strike="noStrike">
              <a:solidFill>
                <a:srgbClr val="14151F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803" name="Google Shape;803;p20"/>
          <p:cNvGrpSpPr/>
          <p:nvPr/>
        </p:nvGrpSpPr>
        <p:grpSpPr>
          <a:xfrm>
            <a:off x="4985478" y="1276413"/>
            <a:ext cx="3792566" cy="2315736"/>
            <a:chOff x="623172" y="1052968"/>
            <a:chExt cx="3792566" cy="2315736"/>
          </a:xfrm>
        </p:grpSpPr>
        <p:sp>
          <p:nvSpPr>
            <p:cNvPr id="804" name="Google Shape;804;p20"/>
            <p:cNvSpPr txBox="1"/>
            <p:nvPr/>
          </p:nvSpPr>
          <p:spPr>
            <a:xfrm>
              <a:off x="2234138" y="1052968"/>
              <a:ext cx="2181600" cy="22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pl-PL" sz="1200">
                  <a:solidFill>
                    <a:srgbClr val="14151F"/>
                  </a:solidFill>
                  <a:latin typeface="Play"/>
                  <a:ea typeface="Play"/>
                  <a:cs typeface="Play"/>
                  <a:sym typeface="Play"/>
                </a:rPr>
                <a:t>{{testimonial.content}}</a:t>
              </a:r>
              <a:endParaRPr/>
            </a:p>
          </p:txBody>
        </p:sp>
        <p:sp>
          <p:nvSpPr>
            <p:cNvPr id="805" name="Google Shape;805;p20"/>
            <p:cNvSpPr txBox="1"/>
            <p:nvPr/>
          </p:nvSpPr>
          <p:spPr>
            <a:xfrm>
              <a:off x="623172" y="2691904"/>
              <a:ext cx="1491300" cy="67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-PL" sz="1200">
                  <a:solidFill>
                    <a:srgbClr val="2B3046"/>
                  </a:solidFill>
                  <a:latin typeface="Play"/>
                  <a:ea typeface="Play"/>
                  <a:cs typeface="Play"/>
                  <a:sym typeface="Play"/>
                </a:rPr>
                <a:t>{{testimonial.name}</a:t>
              </a:r>
              <a:br>
                <a:rPr b="1" i="0" lang="pl-PL" sz="1200" u="none" cap="none" strike="noStrike">
                  <a:solidFill>
                    <a:srgbClr val="2B3046"/>
                  </a:solidFill>
                  <a:latin typeface="Play"/>
                  <a:ea typeface="Play"/>
                  <a:cs typeface="Play"/>
                  <a:sym typeface="Play"/>
                </a:rPr>
              </a:br>
              <a:r>
                <a:rPr lang="pl-PL" sz="1200">
                  <a:solidFill>
                    <a:srgbClr val="2B3046"/>
                  </a:solidFill>
                  <a:latin typeface="Play"/>
                  <a:ea typeface="Play"/>
                  <a:cs typeface="Play"/>
                  <a:sym typeface="Play"/>
                </a:rPr>
                <a:t>{{testimonial.position}}</a:t>
              </a:r>
              <a:endParaRPr b="0" i="1" sz="12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descr="Obraz zawierający Ludzka twarz, osoba, Warga, Szminka&#10;&#10;Opis wygenerowany automatycznie" id="806" name="Google Shape;806;p20"/>
            <p:cNvPicPr preferRelativeResize="0"/>
            <p:nvPr/>
          </p:nvPicPr>
          <p:blipFill rotWithShape="1">
            <a:blip r:embed="rId3">
              <a:alphaModFix/>
            </a:blip>
            <a:srcRect b="219" l="0" r="0" t="219"/>
            <a:stretch/>
          </p:blipFill>
          <p:spPr>
            <a:xfrm>
              <a:off x="623172" y="1056221"/>
              <a:ext cx="1356600" cy="1366800"/>
            </a:xfrm>
            <a:prstGeom prst="ellipse">
              <a:avLst/>
            </a:prstGeom>
            <a:noFill/>
            <a:ln>
              <a:noFill/>
            </a:ln>
          </p:spPr>
        </p:pic>
      </p:grpSp>
      <p:grpSp>
        <p:nvGrpSpPr>
          <p:cNvPr id="807" name="Google Shape;807;p20"/>
          <p:cNvGrpSpPr/>
          <p:nvPr/>
        </p:nvGrpSpPr>
        <p:grpSpPr>
          <a:xfrm>
            <a:off x="699058" y="1180575"/>
            <a:ext cx="4098396" cy="2519158"/>
            <a:chOff x="579421" y="1107560"/>
            <a:chExt cx="4098396" cy="2519158"/>
          </a:xfrm>
        </p:grpSpPr>
        <p:pic>
          <p:nvPicPr>
            <p:cNvPr id="808" name="Google Shape;808;p20"/>
            <p:cNvPicPr preferRelativeResize="0"/>
            <p:nvPr/>
          </p:nvPicPr>
          <p:blipFill rotWithShape="1">
            <a:blip r:embed="rId4">
              <a:alphaModFix/>
            </a:blip>
            <a:srcRect b="140" l="0" r="0" t="150"/>
            <a:stretch/>
          </p:blipFill>
          <p:spPr>
            <a:xfrm>
              <a:off x="590940" y="1203398"/>
              <a:ext cx="1386600" cy="1370100"/>
            </a:xfrm>
            <a:prstGeom prst="ellipse">
              <a:avLst/>
            </a:prstGeom>
            <a:noFill/>
            <a:ln>
              <a:noFill/>
            </a:ln>
          </p:spPr>
        </p:pic>
        <p:grpSp>
          <p:nvGrpSpPr>
            <p:cNvPr id="809" name="Google Shape;809;p20"/>
            <p:cNvGrpSpPr/>
            <p:nvPr/>
          </p:nvGrpSpPr>
          <p:grpSpPr>
            <a:xfrm>
              <a:off x="579421" y="1107560"/>
              <a:ext cx="4098396" cy="2519158"/>
              <a:chOff x="795291" y="1401637"/>
              <a:chExt cx="4098396" cy="2519158"/>
            </a:xfrm>
          </p:grpSpPr>
          <p:sp>
            <p:nvSpPr>
              <p:cNvPr id="810" name="Google Shape;810;p20"/>
              <p:cNvSpPr txBox="1"/>
              <p:nvPr/>
            </p:nvSpPr>
            <p:spPr>
              <a:xfrm>
                <a:off x="2381487" y="1401637"/>
                <a:ext cx="2512200" cy="237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pl-PL" sz="1200">
                    <a:solidFill>
                      <a:srgbClr val="14151F"/>
                    </a:solidFill>
                    <a:latin typeface="Play"/>
                    <a:ea typeface="Play"/>
                    <a:cs typeface="Play"/>
                    <a:sym typeface="Play"/>
                  </a:rPr>
                  <a:t>{{testimonial.content}}</a:t>
                </a:r>
                <a:endParaRPr/>
              </a:p>
            </p:txBody>
          </p:sp>
          <p:sp>
            <p:nvSpPr>
              <p:cNvPr id="811" name="Google Shape;811;p20"/>
              <p:cNvSpPr txBox="1"/>
              <p:nvPr/>
            </p:nvSpPr>
            <p:spPr>
              <a:xfrm>
                <a:off x="795291" y="3028895"/>
                <a:ext cx="1409700" cy="89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l-PL" sz="1200">
                    <a:solidFill>
                      <a:srgbClr val="2B3046"/>
                    </a:solidFill>
                    <a:latin typeface="Play"/>
                    <a:ea typeface="Play"/>
                    <a:cs typeface="Play"/>
                    <a:sym typeface="Play"/>
                  </a:rPr>
                  <a:t>{{testimonial.name}</a:t>
                </a:r>
                <a:r>
                  <a:rPr b="1" i="0" lang="pl-PL" sz="1200" u="none" cap="none" strike="noStrike">
                    <a:solidFill>
                      <a:srgbClr val="2B3046"/>
                    </a:solidFill>
                    <a:latin typeface="Play"/>
                    <a:ea typeface="Play"/>
                    <a:cs typeface="Play"/>
                    <a:sym typeface="Play"/>
                  </a:rPr>
                  <a:t> 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l-PL" sz="1200">
                    <a:solidFill>
                      <a:srgbClr val="2B3046"/>
                    </a:solidFill>
                    <a:latin typeface="Play"/>
                    <a:ea typeface="Play"/>
                    <a:cs typeface="Play"/>
                    <a:sym typeface="Play"/>
                  </a:rPr>
                  <a:t>{{testimonial.position}}</a:t>
                </a:r>
                <a:endParaRPr/>
              </a:p>
            </p:txBody>
          </p:sp>
        </p:grpSp>
      </p:grpSp>
      <p:pic>
        <p:nvPicPr>
          <p:cNvPr id="812" name="Google Shape;81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4398" y="3861059"/>
            <a:ext cx="1111900" cy="250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7839" y="3861059"/>
            <a:ext cx="1111900" cy="250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18076" y="1192574"/>
            <a:ext cx="1491427" cy="1534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18" y="1192574"/>
            <a:ext cx="1491427" cy="1534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" name="Google Shape;820;p23"/>
          <p:cNvPicPr preferRelativeResize="0"/>
          <p:nvPr/>
        </p:nvPicPr>
        <p:blipFill rotWithShape="1">
          <a:blip r:embed="rId3">
            <a:alphaModFix/>
          </a:blip>
          <a:srcRect b="0" l="2290" r="2290" t="0"/>
          <a:stretch/>
        </p:blipFill>
        <p:spPr>
          <a:xfrm>
            <a:off x="713867" y="1392200"/>
            <a:ext cx="1809200" cy="1850534"/>
          </a:xfrm>
          <a:prstGeom prst="ellipse">
            <a:avLst/>
          </a:prstGeom>
          <a:noFill/>
          <a:ln>
            <a:noFill/>
          </a:ln>
        </p:spPr>
      </p:pic>
      <p:sp>
        <p:nvSpPr>
          <p:cNvPr id="821" name="Google Shape;821;p23"/>
          <p:cNvSpPr txBox="1"/>
          <p:nvPr/>
        </p:nvSpPr>
        <p:spPr>
          <a:xfrm>
            <a:off x="575300" y="264702"/>
            <a:ext cx="7942300" cy="5728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rPr>
              <a:t>TO DO - ADD TITLE</a:t>
            </a:r>
            <a:endParaRPr b="1" i="0" sz="2500" u="none" cap="none" strike="noStrike">
              <a:solidFill>
                <a:srgbClr val="14151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22" name="Google Shape;822;p23"/>
          <p:cNvSpPr txBox="1"/>
          <p:nvPr/>
        </p:nvSpPr>
        <p:spPr>
          <a:xfrm>
            <a:off x="2907355" y="1393574"/>
            <a:ext cx="5694778" cy="18406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l-PL">
                <a:solidFill>
                  <a:srgbClr val="2B3046"/>
                </a:solidFill>
                <a:latin typeface="Play"/>
                <a:ea typeface="Play"/>
                <a:cs typeface="Play"/>
                <a:sym typeface="Play"/>
              </a:rPr>
              <a:t>{{testimonial.content}}</a:t>
            </a:r>
            <a:endParaRPr/>
          </a:p>
        </p:txBody>
      </p:sp>
      <p:sp>
        <p:nvSpPr>
          <p:cNvPr id="823" name="Google Shape;823;p23"/>
          <p:cNvSpPr txBox="1"/>
          <p:nvPr/>
        </p:nvSpPr>
        <p:spPr>
          <a:xfrm>
            <a:off x="888662" y="3545946"/>
            <a:ext cx="1939206" cy="6851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>
                <a:solidFill>
                  <a:srgbClr val="2B3046"/>
                </a:solidFill>
                <a:latin typeface="Play"/>
                <a:ea typeface="Play"/>
                <a:cs typeface="Play"/>
                <a:sym typeface="Play"/>
              </a:rPr>
              <a:t>{{testimonial.name}}</a:t>
            </a:r>
            <a:endParaRPr b="1" i="0" sz="1400" u="none" cap="none" strike="noStrike">
              <a:solidFill>
                <a:srgbClr val="2B3046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>
                <a:solidFill>
                  <a:srgbClr val="2B3046"/>
                </a:solidFill>
                <a:latin typeface="Play"/>
                <a:ea typeface="Play"/>
                <a:cs typeface="Play"/>
                <a:sym typeface="Play"/>
              </a:rPr>
              <a:t>{{testimonial.position}}</a:t>
            </a:r>
            <a:endParaRPr/>
          </a:p>
        </p:txBody>
      </p:sp>
      <p:pic>
        <p:nvPicPr>
          <p:cNvPr descr="Electrolux logo" id="824" name="Google Shape;82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4676" y="3321049"/>
            <a:ext cx="1711324" cy="96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508" y="1309091"/>
            <a:ext cx="2018695" cy="2077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25"/>
          <p:cNvSpPr txBox="1"/>
          <p:nvPr/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0" i="0" sz="3300" u="none" cap="none" strike="noStrike">
              <a:solidFill>
                <a:srgbClr val="14151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31" name="Google Shape;831;p25"/>
          <p:cNvSpPr txBox="1"/>
          <p:nvPr/>
        </p:nvSpPr>
        <p:spPr>
          <a:xfrm>
            <a:off x="571008" y="258488"/>
            <a:ext cx="8143843" cy="5546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pl-PL" sz="2500" u="none" cap="none" strike="noStrike">
                <a:solidFill>
                  <a:srgbClr val="14151F"/>
                </a:solidFill>
                <a:latin typeface="Play"/>
                <a:ea typeface="Play"/>
                <a:cs typeface="Play"/>
                <a:sym typeface="Play"/>
              </a:rPr>
              <a:t>Zaufali nam między innymi:</a:t>
            </a:r>
            <a:endParaRPr/>
          </a:p>
        </p:txBody>
      </p:sp>
      <p:grpSp>
        <p:nvGrpSpPr>
          <p:cNvPr id="832" name="Google Shape;832;p25"/>
          <p:cNvGrpSpPr/>
          <p:nvPr/>
        </p:nvGrpSpPr>
        <p:grpSpPr>
          <a:xfrm>
            <a:off x="888465" y="1084638"/>
            <a:ext cx="7367070" cy="2974224"/>
            <a:chOff x="888465" y="1120091"/>
            <a:chExt cx="7367070" cy="2974224"/>
          </a:xfrm>
        </p:grpSpPr>
        <p:pic>
          <p:nvPicPr>
            <p:cNvPr descr="Obraz zawierający tekst, Czcionka, zrzut ekranu&#10;&#10;Zawartość wygenerowana przez sztuczną inteligencję może być niepoprawna." id="833" name="Google Shape;83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88465" y="1120091"/>
              <a:ext cx="7367070" cy="24311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4" name="Google Shape;834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26357" y="3606289"/>
              <a:ext cx="1266464" cy="4880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Obraz zawierający Czcionka, Grafika, projekt graficzny, logo&#10;&#10;Zawartość wygenerowana przez AI może być niepoprawna." id="835" name="Google Shape;835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320039" y="3637744"/>
              <a:ext cx="2534854" cy="42511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0" name="Google Shape;84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6272" y="1354347"/>
            <a:ext cx="2750143" cy="2708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3180000">
            <a:off x="2038961" y="2901445"/>
            <a:ext cx="1156137" cy="17004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2" name="Google Shape;842;p26"/>
          <p:cNvGrpSpPr/>
          <p:nvPr/>
        </p:nvGrpSpPr>
        <p:grpSpPr>
          <a:xfrm>
            <a:off x="4139778" y="3301190"/>
            <a:ext cx="2390419" cy="953334"/>
            <a:chOff x="4195059" y="4664125"/>
            <a:chExt cx="2909669" cy="1079569"/>
          </a:xfrm>
        </p:grpSpPr>
        <p:grpSp>
          <p:nvGrpSpPr>
            <p:cNvPr id="843" name="Google Shape;843;p26"/>
            <p:cNvGrpSpPr/>
            <p:nvPr/>
          </p:nvGrpSpPr>
          <p:grpSpPr>
            <a:xfrm>
              <a:off x="4195059" y="4664125"/>
              <a:ext cx="2909669" cy="1079569"/>
              <a:chOff x="4432126" y="4477858"/>
              <a:chExt cx="2909669" cy="1079569"/>
            </a:xfrm>
          </p:grpSpPr>
          <p:sp>
            <p:nvSpPr>
              <p:cNvPr id="844" name="Google Shape;844;p26"/>
              <p:cNvSpPr/>
              <p:nvPr/>
            </p:nvSpPr>
            <p:spPr>
              <a:xfrm>
                <a:off x="4434293" y="4477858"/>
                <a:ext cx="2907502" cy="901805"/>
              </a:xfrm>
              <a:prstGeom prst="roundRect">
                <a:avLst>
                  <a:gd fmla="val 16667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" name="Google Shape;845;p26"/>
              <p:cNvSpPr/>
              <p:nvPr/>
            </p:nvSpPr>
            <p:spPr>
              <a:xfrm flipH="1" rot="-10794222">
                <a:off x="4432446" y="5176026"/>
                <a:ext cx="238000" cy="381201"/>
              </a:xfrm>
              <a:prstGeom prst="rtTriangl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6" name="Google Shape;846;p26"/>
            <p:cNvSpPr txBox="1"/>
            <p:nvPr/>
          </p:nvSpPr>
          <p:spPr>
            <a:xfrm>
              <a:off x="4322159" y="4677266"/>
              <a:ext cx="2677568" cy="836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pl-PL" sz="1200" u="none" cap="none" strike="noStrike">
                  <a:solidFill>
                    <a:srgbClr val="2B3046"/>
                  </a:solidFill>
                  <a:latin typeface="Play"/>
                  <a:ea typeface="Play"/>
                  <a:cs typeface="Play"/>
                  <a:sym typeface="Play"/>
                </a:rPr>
                <a:t>Masz pytania? </a:t>
              </a:r>
              <a:br>
                <a:rPr b="0" i="0" lang="pl-PL" sz="1200" u="none" cap="none" strike="noStrike">
                  <a:solidFill>
                    <a:srgbClr val="2B3046"/>
                  </a:solidFill>
                  <a:latin typeface="Play"/>
                  <a:ea typeface="Play"/>
                  <a:cs typeface="Play"/>
                  <a:sym typeface="Play"/>
                </a:rPr>
              </a:br>
              <a:r>
                <a:rPr b="0" i="0" lang="pl-PL" sz="1200" u="none" cap="none" strike="noStrike">
                  <a:solidFill>
                    <a:srgbClr val="2B3046"/>
                  </a:solidFill>
                  <a:latin typeface="Play"/>
                  <a:ea typeface="Play"/>
                  <a:cs typeface="Play"/>
                  <a:sym typeface="Play"/>
                </a:rPr>
                <a:t>Napisz lub zadzwoń do mnie! 👋</a:t>
              </a:r>
              <a:endParaRPr b="0" i="0" sz="1200" u="none" cap="none" strike="noStrike">
                <a:solidFill>
                  <a:srgbClr val="2B3046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847" name="Google Shape;847;p26"/>
          <p:cNvSpPr txBox="1"/>
          <p:nvPr/>
        </p:nvSpPr>
        <p:spPr>
          <a:xfrm>
            <a:off x="331029" y="1753252"/>
            <a:ext cx="4572000" cy="11490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32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l-PL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Przemysław Fidzina</a:t>
            </a:r>
            <a:endParaRPr/>
          </a:p>
          <a:p>
            <a:pPr indent="0" lvl="0" marL="3240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l-PL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+48 669 418 765 </a:t>
            </a:r>
            <a:endParaRPr/>
          </a:p>
          <a:p>
            <a:pPr indent="0" lvl="0" marL="3240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l-PL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p.fidzina@coaction.pl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4_Simple Light">
  <a:themeElements>
    <a:clrScheme name="Niestandardowy 1">
      <a:dk1>
        <a:srgbClr val="2B3046"/>
      </a:dk1>
      <a:lt1>
        <a:srgbClr val="FFFFFF"/>
      </a:lt1>
      <a:dk2>
        <a:srgbClr val="4A4D5A"/>
      </a:dk2>
      <a:lt2>
        <a:srgbClr val="AEE6F7"/>
      </a:lt2>
      <a:accent1>
        <a:srgbClr val="2BBFED"/>
      </a:accent1>
      <a:accent2>
        <a:srgbClr val="13BAFF"/>
      </a:accent2>
      <a:accent3>
        <a:srgbClr val="34D399"/>
      </a:accent3>
      <a:accent4>
        <a:srgbClr val="D6DCE6"/>
      </a:accent4>
      <a:accent5>
        <a:srgbClr val="BECCE6"/>
      </a:accent5>
      <a:accent6>
        <a:srgbClr val="FF5E5B"/>
      </a:accent6>
      <a:hlink>
        <a:srgbClr val="FF5E5B"/>
      </a:hlink>
      <a:folHlink>
        <a:srgbClr val="BC3D3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A Motyw">
  <a:themeElements>
    <a:clrScheme name="Niestandardowy 1">
      <a:dk1>
        <a:srgbClr val="2B3046"/>
      </a:dk1>
      <a:lt1>
        <a:srgbClr val="FFFFFF"/>
      </a:lt1>
      <a:dk2>
        <a:srgbClr val="4A4D5A"/>
      </a:dk2>
      <a:lt2>
        <a:srgbClr val="AEE6F7"/>
      </a:lt2>
      <a:accent1>
        <a:srgbClr val="2BBFED"/>
      </a:accent1>
      <a:accent2>
        <a:srgbClr val="13BAFF"/>
      </a:accent2>
      <a:accent3>
        <a:srgbClr val="34D399"/>
      </a:accent3>
      <a:accent4>
        <a:srgbClr val="D6DCE6"/>
      </a:accent4>
      <a:accent5>
        <a:srgbClr val="BECCE6"/>
      </a:accent5>
      <a:accent6>
        <a:srgbClr val="FF5E5B"/>
      </a:accent6>
      <a:hlink>
        <a:srgbClr val="FF5E5B"/>
      </a:hlink>
      <a:folHlink>
        <a:srgbClr val="BC3D3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Simple Light">
  <a:themeElements>
    <a:clrScheme name="Niestandardowy 1">
      <a:dk1>
        <a:srgbClr val="2B3046"/>
      </a:dk1>
      <a:lt1>
        <a:srgbClr val="FFFFFF"/>
      </a:lt1>
      <a:dk2>
        <a:srgbClr val="4A4D5A"/>
      </a:dk2>
      <a:lt2>
        <a:srgbClr val="AEE6F7"/>
      </a:lt2>
      <a:accent1>
        <a:srgbClr val="2BBFED"/>
      </a:accent1>
      <a:accent2>
        <a:srgbClr val="13BAFF"/>
      </a:accent2>
      <a:accent3>
        <a:srgbClr val="34D399"/>
      </a:accent3>
      <a:accent4>
        <a:srgbClr val="D6DCE6"/>
      </a:accent4>
      <a:accent5>
        <a:srgbClr val="BECCE6"/>
      </a:accent5>
      <a:accent6>
        <a:srgbClr val="FF5E5B"/>
      </a:accent6>
      <a:hlink>
        <a:srgbClr val="FF5E5B"/>
      </a:hlink>
      <a:folHlink>
        <a:srgbClr val="BC3D3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Niestandardowy 1">
      <a:dk1>
        <a:srgbClr val="2B3046"/>
      </a:dk1>
      <a:lt1>
        <a:srgbClr val="FFFFFF"/>
      </a:lt1>
      <a:dk2>
        <a:srgbClr val="4A4D5A"/>
      </a:dk2>
      <a:lt2>
        <a:srgbClr val="AEE6F7"/>
      </a:lt2>
      <a:accent1>
        <a:srgbClr val="2BBFED"/>
      </a:accent1>
      <a:accent2>
        <a:srgbClr val="13BAFF"/>
      </a:accent2>
      <a:accent3>
        <a:srgbClr val="34D399"/>
      </a:accent3>
      <a:accent4>
        <a:srgbClr val="D6DCE6"/>
      </a:accent4>
      <a:accent5>
        <a:srgbClr val="BECCE6"/>
      </a:accent5>
      <a:accent6>
        <a:srgbClr val="FF5E5B"/>
      </a:accent6>
      <a:hlink>
        <a:srgbClr val="FF5E5B"/>
      </a:hlink>
      <a:folHlink>
        <a:srgbClr val="BC3D3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1_CoA Motyw">
  <a:themeElements>
    <a:clrScheme name="Niestandardowy 1">
      <a:dk1>
        <a:srgbClr val="2B3046"/>
      </a:dk1>
      <a:lt1>
        <a:srgbClr val="FFFFFF"/>
      </a:lt1>
      <a:dk2>
        <a:srgbClr val="4A4D5A"/>
      </a:dk2>
      <a:lt2>
        <a:srgbClr val="AEE6F7"/>
      </a:lt2>
      <a:accent1>
        <a:srgbClr val="2BBFED"/>
      </a:accent1>
      <a:accent2>
        <a:srgbClr val="13BAFF"/>
      </a:accent2>
      <a:accent3>
        <a:srgbClr val="34D399"/>
      </a:accent3>
      <a:accent4>
        <a:srgbClr val="D6DCE6"/>
      </a:accent4>
      <a:accent5>
        <a:srgbClr val="BECCE6"/>
      </a:accent5>
      <a:accent6>
        <a:srgbClr val="FF5E5B"/>
      </a:accent6>
      <a:hlink>
        <a:srgbClr val="FF5E5B"/>
      </a:hlink>
      <a:folHlink>
        <a:srgbClr val="BC3D3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2_Simple Light">
  <a:themeElements>
    <a:clrScheme name="Niestandardowy 1">
      <a:dk1>
        <a:srgbClr val="2B3046"/>
      </a:dk1>
      <a:lt1>
        <a:srgbClr val="FFFFFF"/>
      </a:lt1>
      <a:dk2>
        <a:srgbClr val="4A4D5A"/>
      </a:dk2>
      <a:lt2>
        <a:srgbClr val="AEE6F7"/>
      </a:lt2>
      <a:accent1>
        <a:srgbClr val="2BBFED"/>
      </a:accent1>
      <a:accent2>
        <a:srgbClr val="13BAFF"/>
      </a:accent2>
      <a:accent3>
        <a:srgbClr val="34D399"/>
      </a:accent3>
      <a:accent4>
        <a:srgbClr val="D6DCE6"/>
      </a:accent4>
      <a:accent5>
        <a:srgbClr val="BECCE6"/>
      </a:accent5>
      <a:accent6>
        <a:srgbClr val="FF5E5B"/>
      </a:accent6>
      <a:hlink>
        <a:srgbClr val="FF5E5B"/>
      </a:hlink>
      <a:folHlink>
        <a:srgbClr val="BC3D3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Tomczyk Maciej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0x0101007EE9313BC8F6D1469E3FD94A0160726F</vt:lpwstr>
  </property>
  <property fmtid="{D5CDD505-2E9C-101B-9397-08002B2CF9AE}" pid="3" name="MediaServiceImageTags">
    <vt:lpwstr/>
  </property>
</Properties>
</file>